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Monthly-equivalent spend (₹ '000)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08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Eldercare (NRI)</c:v>
                  </c:pt>
                  <c:pt idx="1">
                    <c:v>Exec coaching</c:v>
                  </c:pt>
                  <c:pt idx="2">
                    <c:v>Therapy (2/mo)</c:v>
                  </c:pt>
                  <c:pt idx="3">
                    <c:v>Tutoring (NRI)</c:v>
                  </c:pt>
                  <c:pt idx="4">
                    <c:v>Astrology (repeat)</c:v>
                  </c:pt>
                  <c:pt idx="5">
                    <c:v>Nutrition plans</c:v>
                  </c:pt>
                  <c:pt idx="6">
                    <c:v>Premium apps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</c:v>
                </c:pt>
                <c:pt idx="1">
                  <c:v>40</c:v>
                </c:pt>
                <c:pt idx="2">
                  <c:v>5</c:v>
                </c:pt>
                <c:pt idx="3">
                  <c:v>11</c:v>
                </c:pt>
                <c:pt idx="4">
                  <c:v>2.5</c:v>
                </c:pt>
                <c:pt idx="5">
                  <c:v>6.5</c:v>
                </c:pt>
                <c:pt idx="6">
                  <c:v>0.55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B708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7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guidance interaction (₹)</c:v>
                </c:pt>
              </c:strCache>
            </c:strRef>
          </c:tx>
          <c:spPr>
            <a:solidFill>
              <a:srgbClr val="6B70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0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Human astrologer (per 10-min)</c:v>
                  </c:pt>
                  <c:pt idx="1">
                    <c:v>Sitara AI (per session)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750</c:v>
                </c:pt>
                <c:pt idx="1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7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B3F8F"/>
              </a:solidFill>
              <a:effectLst/>
            </c:spPr>
          </c:dPt>
          <c:dPt>
            <c:idx val="2"/>
            <c:bubble3D val="0"/>
            <c:spPr>
              <a:solidFill>
                <a:srgbClr val="5A5FD4"/>
              </a:solidFill>
              <a:effectLst/>
            </c:spPr>
          </c:dPt>
          <c:dPt>
            <c:idx val="3"/>
            <c:bubble3D val="0"/>
            <c:spPr>
              <a:solidFill>
                <a:srgbClr val="8B8FD9"/>
              </a:solidFill>
              <a:effectLst/>
            </c:spPr>
          </c:dPt>
          <c:dPt>
            <c:idx val="4"/>
            <c:bubble3D val="0"/>
            <c:spPr>
              <a:solidFill>
                <a:srgbClr val="ADB1E6"/>
              </a:solidFill>
              <a:effectLst/>
            </c:spPr>
          </c:dPt>
          <c:dPt>
            <c:idx val="5"/>
            <c:bubble3D val="0"/>
            <c:spPr>
              <a:solidFill>
                <a:srgbClr val="C9CCEE"/>
              </a:solidFill>
              <a:effectLst/>
            </c:spPr>
          </c:dPt>
          <c:dPt>
            <c:idx val="6"/>
            <c:bubble3D val="0"/>
            <c:spPr>
              <a:solidFill>
                <a:srgbClr val="E0E2F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Willingness to pay (1.5x)</c:v>
                </c:pt>
                <c:pt idx="1">
                  <c:v>Retention (1.5x)</c:v>
                </c:pt>
                <c:pt idx="2">
                  <c:v>AI advantage (1.25x)</c:v>
                </c:pt>
                <c:pt idx="3">
                  <c:v>Market size (1.25x)</c:v>
                </c:pt>
                <c:pt idx="4">
                  <c:v>Subscription fit (1.25x)</c:v>
                </c:pt>
                <c:pt idx="5">
                  <c:v>Urgency/Acq/Scale/Defens (1.0x)</c:v>
                </c:pt>
                <c:pt idx="6">
                  <c:v>Ops/Trust/Founder (0.75x)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1.5</c:v>
                </c:pt>
                <c:pt idx="1">
                  <c:v>1.5</c:v>
                </c:pt>
                <c:pt idx="2">
                  <c:v>1.25</c:v>
                </c:pt>
                <c:pt idx="3">
                  <c:v>1.25</c:v>
                </c:pt>
                <c:pt idx="4">
                  <c:v>1.25</c:v>
                </c:pt>
                <c:pt idx="5">
                  <c:v>4</c:v>
                </c:pt>
                <c:pt idx="6">
                  <c:v>2.25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research phases, 21 parallel workstreams, ~670 sources examined. Today's ask is a validation decision, not a scale decision. Companion documents: Deck 2 (financials), Excel model, research report Edition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frame the ask upfront so the board evaluates everything that follows against a specific, capped decision. We are NOT asking for scale capital today. Stop-loss defined on the final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from the attached bottom-up model, base case. AstroTalk figures are audited/press-verified facts (Entrackr). Break-even = first EBITDA-positive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credibility: AstroSage 2025 data. Subscriptions: Ormax OTT paid base. Wealth: MEA, World Bank, Goldman Sachs. Category heat: AstroTalk IPO reporting. The window is visible to everyone after the IPO — moving first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 WTP bands are documented spend (pricing pages, filings) not aspirations. Full 12-segment ranking is in the research report Part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band is a documented price from provider pages or filings (report Parts 1 &amp; 8). Chart shows monthly-equivalent midpoints, ₹ thousands.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Verbatims from Trustpilot, App Store reviews, Blind and the SproutsNews investigation — collected in the research report. The underlying need is anxiety regulation and decision confidence, which is why repeat rates are extreme.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failures define our product requirements: continuity, trust, ethics, and proactive cadence. Trustpilot 3.3/5 for the category leader; Nebula's $9.99/week dark-funnel complaints documented.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per interaction: human astrologers ₹20–139/min vs AI &lt; ₹1. AstroSage proves quality AND margin. Humans move up the value chain to high-stakes moments; deterministic astronomy is computed, never generated — that kills the hallucination risk where it matters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Bubble position = theme; every idea scored on the same weighted model. Greyed = rejected on evidence (novelty collapse, frequency math, regulation, one-time shape). Full scorecards in report Parts 3 &amp;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favour what makes subscriptions durable: WTP and retention 1.5x, AI advantage / market / subscription-fit 1.25x. Kill-rules ejected 10 ideas regardless of charm. This is why the board can trust the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bottom-up in the meeting: the rejections build credibility before the winner appears. Scores are weighted composites; full 24-32 point scorecards exist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rejection preserved capital. These stats are the strongest slides in diligence — they show the process kills attractive-sounding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minute each in the meeting. Each is viable for the right founder; none combines our required scale + subscription physics + ops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Bolo: the child is not the buyer — kids' novelty decay is the category graveyard. Smriti: the FamilyAlbum 30M proof is real, but every memory subscription ages out at years 3-5 as documentation collapses.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10x ARPU fact is the single most striking datapoint of the research. But three blockers keep it out of the top three — and it survives as the winner's Phase-4 cross-sell module (rituals attached to guidance moments).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clear every bar. The decision is sequencing risk: Sitara is the fastest, cheapest certainty with the largest consumer upside. 3-yr revenue ranges from the idea-comparison model (Deck 2, Excel).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layer of WTP proven by profitable companies. If consumer validation fails, this is the disciplined pivot: same AI-product skills, B2B buyer whose income depends on the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Phase-2 research de-risked its central unknown: elders DO engage daily with proactive voice companions, for months. But ops weight and emergency liability fail our 'scale without heavy human dependence' condition. It is the natural second product — same buyer, same family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Winner on the weighted model, not on any single dimension. It sells recurring reassurance — the one consumer emotion with documented 80% repeat behaviour — not novelty (which the Lensa curve kills). Ops 3/10 means a small founding team can run it globally.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Personas synthesised from segment research. Priya's trigger moments: job offer, kundli matching, house muhurat, naming ceremony. Objection handling — 'is this real Jyotish?' — is why the Jyotish lead hire and ethics code are launch-critical.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has an instrumented metric (activation, WAU, consult attach, renewal). The Year-Ahead artefact is deliberately timed to the renewal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Wireframes to be produced in design sprint (validation phase). The visible memory chips ('remembers: job search, Ananya's school') are the differentiation made tangible — no competitor can show that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six value types at purchase. Right: the retention engine — each layer compounds. Ethics note: no manipulative retention; one-tap cancel is brand strategy in a dark-pattern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₹399 ChatGPT Go is precisely why we sell continuity + humans + ethics, not text generation. Each layer is independently hard; together they compound. Passes the NFX switching-cost test: leaving loses accumulated context and relationships.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Axes: trust/ethics (vertical) x continuity/personalisation (horizontal). AstroTalk is huge but bottom-left — and cannot move up-right without cannibalising fear-driven consult revenue (innovator's dilemma). Family astrologers are trusted but memory-less and unscalable.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supported claims. The named gap (Jyotish authority) is an early-hire commitment, budgeted in Scenario A. Incumbents' ethics-blindness is structural, not accidental — their revenue depends on per-minute anxiety.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Concierge test runs BEFORE serious code: a real astrologer + operator over WhatsApp at $15/mo for 50 users. Month-2 renewal is the single most important number this company will ever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AstroTalk's published CAC (₹575–870 domestic, recovered 6–8 months) proves the Meta channel; our NRI guardrail is ₹4,000 blended at 3x the ARPU. Roadmap phases map to funding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framing: this is a capped purchase of certainty. The board is not approving a company today — it is approving the cheapest possible test of the best-evidenced opportunity from 14 categories of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BOARD PRESENTATION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Reassurance Economy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India's first trust-first AI life-guidance subscription — from 14 researched categories to one decisive recommendation.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SITARA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of 2 — Business Idea &amp; Board Conviction  ·  28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we need to make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45920"/>
            <a:ext cx="3611880" cy="3017520"/>
          </a:xfrm>
          <a:prstGeom prst="roundRect">
            <a:avLst>
              <a:gd name="adj" fmla="val 2121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828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considering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246888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into high-value AI subscriptions for affluent Indians &amp; NRIs — a two-phase research programme has narrowed 14 categories and 20 scored ideas to one winner.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06824" y="1645920"/>
            <a:ext cx="3611880" cy="3017520"/>
          </a:xfrm>
          <a:prstGeom prst="roundRect">
            <a:avLst>
              <a:gd name="adj" fmla="val 2121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89704" y="1828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ask today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489704" y="246888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Scenario A: ₹1.25 crore to validate demand and build v1 of Project Sitara, with a defined Gate at month 6 and a hard stop-loss.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10728" y="1645920"/>
            <a:ext cx="3611880" cy="3017520"/>
          </a:xfrm>
          <a:prstGeom prst="roundRect">
            <a:avLst>
              <a:gd name="adj" fmla="val 2121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93608" y="1828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NOT asking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93608" y="246888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or scale capital (₹3.3 Cr Gate-2 and ₹3.3 Cr Gate-3 tranches) — those require cohort evidence and return to this board.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0292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downside of today's approval: ₹1.25 crore.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capped, gated bet — sized to buy certainty, not to bet the company.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spending. An unclaimed premium niche. One winner.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2724912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" y="1664208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₹1,182 Cr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12648" y="2340864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AstroTalk FY25 revenue — 80% from repeat customers (FACT)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19272" y="1554480"/>
            <a:ext cx="2724912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29000" y="1664208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429000" y="2340864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 vs India ARPU, Sri Mandir devotional (FACT)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35624" y="1554480"/>
            <a:ext cx="2724912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45352" y="1664208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 vs 4.3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245352" y="2340864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astrologers out-rate humans, at ~90% margins (FACT)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951976" y="1554480"/>
            <a:ext cx="2724912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061704" y="1664208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 / 10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9061704" y="2340864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Sitara — top score across all 20 ideas, both phases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3246120"/>
            <a:ext cx="5522976" cy="1188720"/>
          </a:xfrm>
          <a:prstGeom prst="roundRect">
            <a:avLst>
              <a:gd name="adj" fmla="val 538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" y="335584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788920" y="33558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Sitara 8.1 · Sahay 8.0 · KalaOS 7.6 — winner: Sitara, the trust-first AI Vedic life-planning companion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08776" y="3246120"/>
            <a:ext cx="5522976" cy="1188720"/>
          </a:xfrm>
          <a:prstGeom prst="roundRect">
            <a:avLst>
              <a:gd name="adj" fmla="val 538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91656" y="335584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investment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494776" y="33558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₹1.25 Cr (validate + build v1); staged plan ₹7.85 Cr peak across 36 months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4572000"/>
            <a:ext cx="5522976" cy="1188720"/>
          </a:xfrm>
          <a:prstGeom prst="roundRect">
            <a:avLst>
              <a:gd name="adj" fmla="val 538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85800" y="468172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path (base)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788920" y="468172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₹1.42 Cr → ₹6.34 Cr → ₹12.16 Cr; EBITDA-positive month 30; exit ARR ≈ ₹14.8 Cr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08776" y="4572000"/>
            <a:ext cx="5522976" cy="1188720"/>
          </a:xfrm>
          <a:prstGeom prst="roundRect">
            <a:avLst>
              <a:gd name="adj" fmla="val 538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391656" y="468172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494776" y="468172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concierge validation — 50 paying users, month-2 renewal ≥60% is the gate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Decision-ready: evidence, winner, price of certainty and path are all on the table.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shifts converged in the last 24 months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45920"/>
            <a:ext cx="5522976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" y="17922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crossed the credibility line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4088" y="230428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astrologers rated 4.6 vs 4.3 for humans at ~90% gross margins (AstroSage, 2025). Voice AI in Indian languages matured this year.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8776" y="1645920"/>
            <a:ext cx="5522976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9944" y="17922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comfort is here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9944" y="230428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~119–148M paid OTT subscriptions. NRIs already live in the $10–25/month consumer band (Calm, Pattern, Joy).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749040"/>
            <a:ext cx="5522976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4088" y="38953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diaspora wallet is at a peak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4088" y="440740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35.4M diaspora · $129.4B remittances (2024, record) · Indian-Americans = highest-earning US ethnic group (~$150K median).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08776" y="3749040"/>
            <a:ext cx="5522976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9944" y="38953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heat is arriving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9944" y="440740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AstroTalk IPO-bound (~₹12,500 Cr valuation talk). International revenue grew 4.2x — with no premium product serving it.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the winner needs — payer, product tech, and proof of category — matured simultaneously.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Hard-currency income, Indian-heart spending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91640"/>
            <a:ext cx="11183112" cy="987552"/>
          </a:xfrm>
          <a:prstGeom prst="roundRect">
            <a:avLst>
              <a:gd name="adj" fmla="val 6481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NRI women 27–45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566160" y="1783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US/UK/Canada/Gulf · $120–400K HH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90372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 reassurance for life decisions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784080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$13–25 / mo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2807208"/>
            <a:ext cx="11183112" cy="987552"/>
          </a:xfrm>
          <a:prstGeom prst="roundRect">
            <a:avLst>
              <a:gd name="adj" fmla="val 6481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" y="289864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NRI children of ageing parents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66160" y="28986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32–55 · dollar income, parents in India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903720" y="289864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safety, guilt relief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784080" y="2898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$49–299 / mo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922776"/>
            <a:ext cx="11183112" cy="987552"/>
          </a:xfrm>
          <a:prstGeom prst="roundRect">
            <a:avLst>
              <a:gd name="adj" fmla="val 6481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" y="401421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Affluent metro Indian women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66160" y="401421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25–45 · ₹15L+ HH income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903720" y="401421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Reassurance + self-growth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784080" y="40142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₹300–2,000 / mo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02920" y="5038344"/>
            <a:ext cx="11183112" cy="987552"/>
          </a:xfrm>
          <a:prstGeom prst="roundRect">
            <a:avLst>
              <a:gd name="adj" fmla="val 6481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85800" y="512978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Devout diaspora families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566160" y="512978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35–60 · US/UK/Gulf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903720" y="512978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Rituals never lapse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9784080" y="5129784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~$81 / yr proven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payer is the diaspora wallet; India's affluent are the second market, priced separately.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SPEND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reorganise existing spending — we don't invent it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459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7772400" y="182880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Astrologers: ₹500–1,500 per session — repeated (80% repeat revenue at the leader)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Weddings: ₹39.5 lakh average budget (WedMeGood 2025)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Pujas: $10–100+ per ritual for NRIs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Parenting coaches: $40–200 per session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 — ₹499–999/mo (India), $13–25/mo (NRI) — sits below one existing transaction per month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subscription re-routes money already flowing to worse, episodic alternatives.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their own words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91640"/>
            <a:ext cx="3621024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828800"/>
            <a:ext cx="3255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2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paid ₹500 for a reading and got generic advice I could find online.”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3108960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AstroTalk user, SproutsNews investigation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06824" y="1691640"/>
            <a:ext cx="3621024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89704" y="1828800"/>
            <a:ext cx="3255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2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“They told me my bad luck could only be removed by a ₹15,000 puja.”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489704" y="3108960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Fear-based upselling — documented pattern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110728" y="1691640"/>
            <a:ext cx="3621024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93608" y="1828800"/>
            <a:ext cx="3255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2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astrologer tells me something different — none of them remembers me.”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93608" y="3108960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synthesis — no continuity anywhere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3794760"/>
            <a:ext cx="3621024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931920"/>
            <a:ext cx="3255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2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is the tax of living abroad.”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85800" y="5212080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 on Blind — eldercare guilt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06824" y="3794760"/>
            <a:ext cx="3621024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489704" y="3931920"/>
            <a:ext cx="3255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2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proof the puja was performed.”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89704" y="5212080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App Store complaint, devotional category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110728" y="3794760"/>
            <a:ext cx="3621024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293608" y="3931920"/>
            <a:ext cx="3255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2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“My daughter understands Hindi but answers in English.”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293608" y="5212080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parent, Blind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anxiety, met today by transactional, memory-less, sometimes predatory solutions.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solutions fail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91640"/>
            <a:ext cx="5522976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Episodic by design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4088" y="23317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Per-minute meters reward stalling; every consult starts from zero. No player maintains a life-context memory.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8776" y="1691640"/>
            <a:ext cx="5522976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9944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deficit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9944" y="23317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Fake-review allegations, fear-upsells to ₹15,000 remedies, 3.3/5 Trustpilot at the leader. Western apps run dark-pattern auto-renew funnels.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749040"/>
            <a:ext cx="5522976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4088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premium NRI product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4088" y="43891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revenue grew 4.2x at the leader with zero dedicated product. Diaspora pays 10x in the adjacent devotional category.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08776" y="3749040"/>
            <a:ext cx="5522976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9944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tools can't be trusted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9944" y="43891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reads a chart once: no verified computation, no memory, no humans, no accountability — and users know it.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trust + continuity — not information. That is buildable and defensible.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turns a per-minute human business into a ~79% gross-margin subscription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7373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6035040" y="1783080"/>
            <a:ext cx="5577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at scale: every brief computed from the user's actual chart + life log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across time zones — the NRI killer feature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Hinglish/Hindi; proactive transit &amp; festival alerts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cannot do alone: high-stakes trust moments (verified human escalation), ethics enforcement, deterministic Vedic computation (licensed ephemeris engine)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502920" y="4892040"/>
            <a:ext cx="11183112" cy="1005840"/>
          </a:xfrm>
          <a:prstGeom prst="roundRect">
            <a:avLst>
              <a:gd name="adj" fmla="val 6364"/>
            </a:avLst>
          </a:prstGeom>
          <a:solidFill>
            <a:srgbClr val="EAF3EE"/>
          </a:solidFill>
          <a:ln w="9525">
            <a:solidFill>
              <a:srgbClr val="CBE3D6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31520" y="48920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promise: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AstroSage's AI astrologers answer 250M+ questions, rated 4.6 vs 4.3 for its humans, at ~90% margins (Business Standard/ANI, 2025).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flipped: humans become the premium layer, not the cost base.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categories · 20 scored ideas · one map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3621024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87452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Spirituality &amp; culture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85800" y="2423160"/>
            <a:ext cx="3255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Sitara 8.1 · DharmaSetu 7.4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06824" y="1737360"/>
            <a:ext cx="3621024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4489704" y="187452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&amp; care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489704" y="2423160"/>
            <a:ext cx="3255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Sahay 8.0 · Palna 6.6 · Bolo 6.9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10728" y="1737360"/>
            <a:ext cx="3621024" cy="1965960"/>
          </a:xfrm>
          <a:prstGeom prst="roundRect">
            <a:avLst>
              <a:gd name="adj" fmla="val 4186"/>
            </a:avLst>
          </a:prstGeom>
          <a:solidFill>
            <a:srgbClr val="8B8FD9"/>
          </a:solidFill>
          <a:ln/>
        </p:spPr>
      </p:sp>
      <p:sp>
        <p:nvSpPr>
          <p:cNvPr id="12" name="Text 9"/>
          <p:cNvSpPr/>
          <p:nvPr/>
        </p:nvSpPr>
        <p:spPr>
          <a:xfrm>
            <a:off x="8293608" y="187452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&amp; celebrations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293608" y="2423160"/>
            <a:ext cx="3255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Smriti 7.1 · Dhara 5.3 · Photoshoots 4.4 · Celebrations 4.6 · Kitty 3.7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02920" y="3886200"/>
            <a:ext cx="3621024" cy="1965960"/>
          </a:xfrm>
          <a:prstGeom prst="roundRect">
            <a:avLst>
              <a:gd name="adj" fmla="val 4186"/>
            </a:avLst>
          </a:prstGeom>
          <a:solidFill>
            <a:srgbClr val="8B8FD9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02336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Wellness &amp; companionship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85800" y="4572000"/>
            <a:ext cx="3255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6.4 · Mann-ki-Baat 4.9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306824" y="3886200"/>
            <a:ext cx="3621024" cy="1965960"/>
          </a:xfrm>
          <a:prstGeom prst="roundRect">
            <a:avLst>
              <a:gd name="adj" fmla="val 4186"/>
            </a:avLst>
          </a:prstGeom>
          <a:solidFill>
            <a:srgbClr val="8B8FD9"/>
          </a:solidFill>
          <a:ln/>
        </p:spPr>
      </p:sp>
      <p:sp>
        <p:nvSpPr>
          <p:cNvPr id="18" name="Text 15"/>
          <p:cNvSpPr/>
          <p:nvPr/>
        </p:nvSpPr>
        <p:spPr>
          <a:xfrm>
            <a:off x="4489704" y="402336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&amp; business content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489704" y="4572000"/>
            <a:ext cx="3255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KalaOS 7.6 · VyaparLens 6.4 · Brand Studio 5.8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110728" y="3886200"/>
            <a:ext cx="3621024" cy="1965960"/>
          </a:xfrm>
          <a:prstGeom prst="roundRect">
            <a:avLst>
              <a:gd name="adj" fmla="val 4186"/>
            </a:avLst>
          </a:prstGeom>
          <a:solidFill>
            <a:srgbClr val="C3C5D6"/>
          </a:solidFill>
          <a:ln/>
        </p:spPr>
      </p:sp>
      <p:sp>
        <p:nvSpPr>
          <p:cNvPr id="21" name="Text 18"/>
          <p:cNvSpPr/>
          <p:nvPr/>
        </p:nvSpPr>
        <p:spPr>
          <a:xfrm>
            <a:off x="8293608" y="402336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Lifestyle &amp; home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293608" y="4572000"/>
            <a:ext cx="3255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IndiaDesk 6.3 · YatraOS 5.6 · Shikhar 5.4 · GharShanti 4.2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was examined; rigour did the choosing. Darker = where the winners live.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evaluated: one weighted model, four kill-rules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73736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5943600" y="1828800"/>
            <a:ext cx="5669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Kill-rule 1 — Replaceable by free ChatGPT: information-only ideas die (Woebot shut down citing exactly this)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Kill-rule 2 — One-time purchase shape: Vastu, photoshoots, weddings-B2C (Lensa: −98% from peak month)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Kill-rule 3 — Payer ≠ user without a channel: standalone companionship (Papa's payer collapse)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Kill-rule 4 — Regulatory minefield: kitty/tambola platforms (2025 Online Gaming Act killed the closest analogue)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yardstick for every idea — no pet ideas survived it.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 ideas, honestly scored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002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Sitara — AI Vedic life-planning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846320" y="1655064"/>
            <a:ext cx="4592117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9484157" y="16002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20299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Sahay — NRI parent-care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46320" y="2084832"/>
            <a:ext cx="4535424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9427464" y="20299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24597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KalaOS — wedding studio OS (NEW)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46320" y="2514600"/>
            <a:ext cx="4308653" cy="274320"/>
          </a:xfrm>
          <a:prstGeom prst="roundRect">
            <a:avLst>
              <a:gd name="adj" fmla="val 13333"/>
            </a:avLst>
          </a:prstGeom>
          <a:solidFill>
            <a:srgbClr val="3B3F8F"/>
          </a:solidFill>
          <a:ln/>
        </p:spPr>
      </p:sp>
      <p:sp>
        <p:nvSpPr>
          <p:cNvPr id="13" name="Text 10"/>
          <p:cNvSpPr/>
          <p:nvPr/>
        </p:nvSpPr>
        <p:spPr>
          <a:xfrm>
            <a:off x="9200693" y="24597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28895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DharmaSetu — devotional concierge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846320" y="2944368"/>
            <a:ext cx="4195267" cy="274320"/>
          </a:xfrm>
          <a:prstGeom prst="roundRect">
            <a:avLst>
              <a:gd name="adj" fmla="val 13333"/>
            </a:avLst>
          </a:prstGeom>
          <a:solidFill>
            <a:srgbClr val="5A5FD4"/>
          </a:solidFill>
          <a:ln/>
        </p:spPr>
      </p:sp>
      <p:sp>
        <p:nvSpPr>
          <p:cNvPr id="16" name="Text 13"/>
          <p:cNvSpPr/>
          <p:nvPr/>
        </p:nvSpPr>
        <p:spPr>
          <a:xfrm>
            <a:off x="9087307" y="288950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33192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Smriti — family memory (NEW)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846320" y="3374136"/>
            <a:ext cx="4025189" cy="274320"/>
          </a:xfrm>
          <a:prstGeom prst="roundRect">
            <a:avLst>
              <a:gd name="adj" fmla="val 13333"/>
            </a:avLst>
          </a:prstGeom>
          <a:solidFill>
            <a:srgbClr val="5A5FD4"/>
          </a:solidFill>
          <a:ln/>
        </p:spPr>
      </p:sp>
      <p:sp>
        <p:nvSpPr>
          <p:cNvPr id="19" name="Text 16"/>
          <p:cNvSpPr/>
          <p:nvPr/>
        </p:nvSpPr>
        <p:spPr>
          <a:xfrm>
            <a:off x="8917229" y="331927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37490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Bolo — Hindi for diaspora kids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846320" y="3803904"/>
            <a:ext cx="3911803" cy="274320"/>
          </a:xfrm>
          <a:prstGeom prst="roundRect">
            <a:avLst>
              <a:gd name="adj" fmla="val 13333"/>
            </a:avLst>
          </a:prstGeom>
          <a:solidFill>
            <a:srgbClr val="8B8FD9"/>
          </a:solidFill>
          <a:ln/>
        </p:spPr>
      </p:sp>
      <p:sp>
        <p:nvSpPr>
          <p:cNvPr id="22" name="Text 19"/>
          <p:cNvSpPr/>
          <p:nvPr/>
        </p:nvSpPr>
        <p:spPr>
          <a:xfrm>
            <a:off x="8803843" y="37490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" y="41788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Palna — desi parenting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846320" y="4233672"/>
            <a:ext cx="3741725" cy="274320"/>
          </a:xfrm>
          <a:prstGeom prst="roundRect">
            <a:avLst>
              <a:gd name="adj" fmla="val 13333"/>
            </a:avLst>
          </a:prstGeom>
          <a:solidFill>
            <a:srgbClr val="8B8FD9"/>
          </a:solidFill>
          <a:ln/>
        </p:spPr>
      </p:sp>
      <p:sp>
        <p:nvSpPr>
          <p:cNvPr id="25" name="Text 22"/>
          <p:cNvSpPr/>
          <p:nvPr/>
        </p:nvSpPr>
        <p:spPr>
          <a:xfrm>
            <a:off x="8633765" y="41788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" y="46085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Saathi — cultural wellness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846320" y="4663440"/>
            <a:ext cx="3628339" cy="274320"/>
          </a:xfrm>
          <a:prstGeom prst="roundRect">
            <a:avLst>
              <a:gd name="adj" fmla="val 13333"/>
            </a:avLst>
          </a:prstGeom>
          <a:solidFill>
            <a:srgbClr val="8B8FD9"/>
          </a:solidFill>
          <a:ln/>
        </p:spPr>
      </p:sp>
      <p:sp>
        <p:nvSpPr>
          <p:cNvPr id="28" name="Text 25"/>
          <p:cNvSpPr/>
          <p:nvPr/>
        </p:nvSpPr>
        <p:spPr>
          <a:xfrm>
            <a:off x="8520379" y="460857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02920" y="50383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VyaparLens — product photos (NEW)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846320" y="5093208"/>
            <a:ext cx="3628339" cy="274320"/>
          </a:xfrm>
          <a:prstGeom prst="roundRect">
            <a:avLst>
              <a:gd name="adj" fmla="val 13333"/>
            </a:avLst>
          </a:prstGeom>
          <a:solidFill>
            <a:srgbClr val="8B8FD9"/>
          </a:solidFill>
          <a:ln/>
        </p:spPr>
      </p:sp>
      <p:sp>
        <p:nvSpPr>
          <p:cNvPr id="31" name="Text 28"/>
          <p:cNvSpPr/>
          <p:nvPr/>
        </p:nvSpPr>
        <p:spPr>
          <a:xfrm>
            <a:off x="8520379" y="503834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920" y="54681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IndiaDesk — NRI admin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846320" y="5522976"/>
            <a:ext cx="3571646" cy="274320"/>
          </a:xfrm>
          <a:prstGeom prst="roundRect">
            <a:avLst>
              <a:gd name="adj" fmla="val 13333"/>
            </a:avLst>
          </a:prstGeom>
          <a:solidFill>
            <a:srgbClr val="8B8FD9"/>
          </a:solidFill>
          <a:ln/>
        </p:spPr>
      </p:sp>
      <p:sp>
        <p:nvSpPr>
          <p:cNvPr id="34" name="Text 31"/>
          <p:cNvSpPr/>
          <p:nvPr/>
        </p:nvSpPr>
        <p:spPr>
          <a:xfrm>
            <a:off x="8463686" y="54681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cut (rejected on evidence): Brand Studio 5.8 · YatraOS 5.6 · Shikhar 5.4 · Dhara 5.3 · Companion 4.9 · Celebration concierge 4.6 · AI photoshoots 4.4 · Event studio 4.3 · Vastu 4.2 · Kitty platform 3.7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37" name="Text 34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research phases, one scoring model — the top three are clear and close.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NOT build — and the evidence that spared us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91640"/>
            <a:ext cx="3621024" cy="1920240"/>
          </a:xfrm>
          <a:prstGeom prst="roundRect">
            <a:avLst>
              <a:gd name="adj" fmla="val 3333"/>
            </a:avLst>
          </a:prstGeom>
          <a:solidFill>
            <a:srgbClr val="F7F1F1"/>
          </a:solidFill>
          <a:ln w="9525">
            <a:solidFill>
              <a:srgbClr val="E7D5D5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8105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AI photoshoots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2295144"/>
            <a:ext cx="3255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Lensa: ₹276 Cr revenue in one month, then −98%. Free Gemini served India's whole demand for ~₹85L total.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06824" y="1691640"/>
            <a:ext cx="3621024" cy="1920240"/>
          </a:xfrm>
          <a:prstGeom prst="roundRect">
            <a:avLst>
              <a:gd name="adj" fmla="val 3333"/>
            </a:avLst>
          </a:prstGeom>
          <a:solidFill>
            <a:srgbClr val="F7F1F1"/>
          </a:solidFill>
          <a:ln w="9525">
            <a:solidFill>
              <a:srgbClr val="E7D5D5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89704" y="18105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Celebrations, birthdays, kitty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489704" y="2295144"/>
            <a:ext cx="3255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events/family/yr fails subscription math. Evite ≈ $26M after 25 years. Gaming Act 2025 killed the kitty analogue.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10728" y="1691640"/>
            <a:ext cx="3621024" cy="1920240"/>
          </a:xfrm>
          <a:prstGeom prst="roundRect">
            <a:avLst>
              <a:gd name="adj" fmla="val 3333"/>
            </a:avLst>
          </a:prstGeom>
          <a:solidFill>
            <a:srgbClr val="F7F1F1"/>
          </a:solidFill>
          <a:ln w="9525">
            <a:solidFill>
              <a:srgbClr val="E7D5D5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93608" y="181051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Vastu / interior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93608" y="2295144"/>
            <a:ext cx="3255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consumer Vastu subscriptions exist anywhere — revealed market wisdom. Per-property pricing only.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3794760"/>
            <a:ext cx="3621024" cy="1920240"/>
          </a:xfrm>
          <a:prstGeom prst="roundRect">
            <a:avLst>
              <a:gd name="adj" fmla="val 3333"/>
            </a:avLst>
          </a:prstGeom>
          <a:solidFill>
            <a:srgbClr val="F7F1F1"/>
          </a:solidFill>
          <a:ln w="9525">
            <a:solidFill>
              <a:srgbClr val="E7D5D5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91363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Standalone companionship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85800" y="4398264"/>
            <a:ext cx="3255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lonely person never pays (Khyaal ₹999/yr). Payer channels are fragile (Papa lost ~36 payers in one cycle). Safety minefield.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06824" y="3794760"/>
            <a:ext cx="3621024" cy="1920240"/>
          </a:xfrm>
          <a:prstGeom prst="roundRect">
            <a:avLst>
              <a:gd name="adj" fmla="val 3333"/>
            </a:avLst>
          </a:prstGeom>
          <a:solidFill>
            <a:srgbClr val="F7F1F1"/>
          </a:solidFill>
          <a:ln w="9525">
            <a:solidFill>
              <a:srgbClr val="E7D5D5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489704" y="391363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concierge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489704" y="4398264"/>
            <a:ext cx="3255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scaled AI planner is free/affiliate. 'A $500 travel agent for free' is the consumer's mental model.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10728" y="3794760"/>
            <a:ext cx="3621024" cy="1920240"/>
          </a:xfrm>
          <a:prstGeom prst="roundRect">
            <a:avLst>
              <a:gd name="adj" fmla="val 3333"/>
            </a:avLst>
          </a:prstGeom>
          <a:solidFill>
            <a:srgbClr val="F7F1F1"/>
          </a:solidFill>
          <a:ln w="9525">
            <a:solidFill>
              <a:srgbClr val="E7D5D5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293608" y="391363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Personal-brand studio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293608" y="4398264"/>
            <a:ext cx="3255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cadence at best; PhotoAI's own founder logs 'MRR down, churn up.'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no with evidence is the cheapest capital protection we have.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CONTENDERS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Ranks #10–7: real businesses, not board-scale winners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91640"/>
            <a:ext cx="5522976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" y="18105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 IndiaDesk 6.3  </a:t>
            </a:r>
            <a:pPr indent="0" marL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NRI India-affairs concierge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04088" y="23134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₹29–249/mo eq.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4088" y="2651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Asset-anchored retention is superb; ops sprawl across tax/property/legal is the trap.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08776" y="1691640"/>
            <a:ext cx="5522976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9944" y="18105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VyaparLens 6.4  </a:t>
            </a:r>
            <a:pPr indent="0" marL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product photography for Indian SMBs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9944" y="23134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Per-outcome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9944" y="2651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Dresma proves ₹90 Cr-scale demand — as a services business. Sellers openly prefer 'no subscription.'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3794760"/>
            <a:ext cx="5522976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04088" y="39136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Saathi 6.4  </a:t>
            </a:r>
            <a:pPr indent="0" marL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Culturally-fluent emotional wellness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04088" y="4416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$120–350/mo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4088" y="4754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WTP at BetterHelp prices; human-hours cap margin at 35–45%; cross-border licensing complexity.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08776" y="3794760"/>
            <a:ext cx="5522976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9944" y="39136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 Palna 6.6  </a:t>
            </a:r>
            <a:pPr indent="0" marL="0"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Desi parenting companion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9944" y="4416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$12–15/mo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9944" y="4754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validated the model ($14M Series A); thinnest moat — parents love free ChatGPT for exactly this.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could exist; none is the best first use of this board's capital.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CONTENDERS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Ranks #6–5: strong niches, capped by retention physics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91640"/>
            <a:ext cx="11183112" cy="2057400"/>
          </a:xfrm>
          <a:prstGeom prst="roundRect">
            <a:avLst>
              <a:gd name="adj" fmla="val 3111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18105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#6 Bolo 6.9 — Voice-first Hindi &amp; heritage AI for diaspora kids 4–12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052560" y="1810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$20–49/mo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23500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</a:t>
            </a:r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tutoring WTP ($80–130/mo committed families); unclaimed conversation-practice gap; voice AI advantage is real.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13232" y="3017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Against: </a:t>
            </a:r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Kids' churn: heritage motivation belongs to the parent. No breakout incumbent in 10 years — a warning as much as an invitation.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3931920"/>
            <a:ext cx="11183112" cy="2057400"/>
          </a:xfrm>
          <a:prstGeom prst="roundRect">
            <a:avLst>
              <a:gd name="adj" fmla="val 3111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13232" y="40507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 Smriti 7.1 (NEW) — NRI family memory: AI-curated feed + printed albums to grandparents in India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052560" y="4050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$9–17/mo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3232" y="459028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</a:t>
            </a:r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FamilyAlbum: 30M users on the grandparent hook. Chatbooks: a decade of print subscriptions. Privacy fear is a tailwind.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13232" y="5257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Against: </a:t>
            </a:r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Aging-out churn (0–5 window) caps LTV; Google Photos free gravity; FamilyAlbum could localise.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fundable niches — but their churn physics rank them below the top four.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 DharmaSetu 7.4 — the clearest WTP signal in the corpus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9164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" y="1801368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12648" y="2478024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 vs domestic devotional ARPU (₹7,000 vs ₹600–800) — Sri Mandir, FACT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06240" y="169164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315968" y="1801368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4315968" y="2478024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retention at category leader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09560" y="169164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19288" y="1801368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₹1/day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8019288" y="2478024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subscription pilot in the category — never scaled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3383280"/>
            <a:ext cx="11155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family ritual calendar (tithis, shraddh, festivals) + verified, video-documented pujas via vetted priests — membership $10–17/mo + per-event fulfilment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top-three: subscription conversion doubly unproven; fulfilment ops (priest network, video proof, festival surges); fraud-scarred category taxes every entrant; Sri Mandir ($20M Series C, 20% revenue already NRI) can build it fastest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 in our plan: Phase-4 module inside the winner — rituals cross-sell attached to guidance moments (AstroTalk's own e-commerce arm runs ₹200 Cr ARR on this attach)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loser — a module. The winner absorbs its best economics without its fulfilment risk.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fundable ideas — one best first bet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45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42316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22192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221224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620256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019288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complexity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41832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3-yr revenue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817352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2148840"/>
            <a:ext cx="11183112" cy="1234440"/>
          </a:xfrm>
          <a:prstGeom prst="roundRect">
            <a:avLst>
              <a:gd name="adj" fmla="val 5185"/>
            </a:avLst>
          </a:prstGeom>
          <a:solidFill>
            <a:srgbClr val="EEF2E6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8368" y="22402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Sitara 8.1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423160" y="22219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 + affluent Indian women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3822192" y="22219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Reassurance &amp; timing</a:t>
            </a:r>
            <a:endParaRPr lang="en-US" sz="930" dirty="0"/>
          </a:p>
        </p:txBody>
      </p:sp>
      <p:sp>
        <p:nvSpPr>
          <p:cNvPr id="17" name="Text 14"/>
          <p:cNvSpPr/>
          <p:nvPr/>
        </p:nvSpPr>
        <p:spPr>
          <a:xfrm>
            <a:off x="5221224" y="22219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₹499–999 / $13–25 mo</a:t>
            </a:r>
            <a:endParaRPr lang="en-US" sz="930" dirty="0"/>
          </a:p>
        </p:txBody>
      </p:sp>
      <p:sp>
        <p:nvSpPr>
          <p:cNvPr id="18" name="Text 15"/>
          <p:cNvSpPr/>
          <p:nvPr/>
        </p:nvSpPr>
        <p:spPr>
          <a:xfrm>
            <a:off x="6620256" y="22219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8019288" y="22219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 (lightest)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9418320" y="22219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₹11–17 Cr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10817352" y="22219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conversion unproven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502920" y="3520440"/>
            <a:ext cx="11183112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58368" y="36118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Sahay 8.0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423160" y="35935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 children of ageing parents</a:t>
            </a:r>
            <a:endParaRPr lang="en-US" sz="930" dirty="0"/>
          </a:p>
        </p:txBody>
      </p:sp>
      <p:sp>
        <p:nvSpPr>
          <p:cNvPr id="25" name="Text 22"/>
          <p:cNvSpPr/>
          <p:nvPr/>
        </p:nvSpPr>
        <p:spPr>
          <a:xfrm>
            <a:off x="3822192" y="35935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safety, guilt relief</a:t>
            </a:r>
            <a:endParaRPr lang="en-US" sz="930" dirty="0"/>
          </a:p>
        </p:txBody>
      </p:sp>
      <p:sp>
        <p:nvSpPr>
          <p:cNvPr id="26" name="Text 23"/>
          <p:cNvSpPr/>
          <p:nvPr/>
        </p:nvSpPr>
        <p:spPr>
          <a:xfrm>
            <a:off x="5221224" y="35935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$49–299 mo</a:t>
            </a:r>
            <a:endParaRPr lang="en-US" sz="930" dirty="0"/>
          </a:p>
        </p:txBody>
      </p:sp>
      <p:sp>
        <p:nvSpPr>
          <p:cNvPr id="27" name="Text 24"/>
          <p:cNvSpPr/>
          <p:nvPr/>
        </p:nvSpPr>
        <p:spPr>
          <a:xfrm>
            <a:off x="6620256" y="35935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65/40% by tier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8019288" y="35935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6.5/10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9418320" y="35935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₹16–22 Cr</a:t>
            </a:r>
            <a:endParaRPr lang="en-US" sz="930" dirty="0"/>
          </a:p>
        </p:txBody>
      </p:sp>
      <p:sp>
        <p:nvSpPr>
          <p:cNvPr id="30" name="Text 27"/>
          <p:cNvSpPr/>
          <p:nvPr/>
        </p:nvSpPr>
        <p:spPr>
          <a:xfrm>
            <a:off x="10817352" y="35935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gravity + emergency liability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502920" y="4892040"/>
            <a:ext cx="11183112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58368" y="49834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KalaOS 7.6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2423160" y="49651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wedding studios (B2B)</a:t>
            </a:r>
            <a:endParaRPr lang="en-US" sz="930" dirty="0"/>
          </a:p>
        </p:txBody>
      </p:sp>
      <p:sp>
        <p:nvSpPr>
          <p:cNvPr id="34" name="Text 31"/>
          <p:cNvSpPr/>
          <p:nvPr/>
        </p:nvSpPr>
        <p:spPr>
          <a:xfrm>
            <a:off x="3822192" y="49651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Post-production bottleneck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221224" y="49651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₹2,000–10,000 mo</a:t>
            </a:r>
            <a:endParaRPr lang="en-US" sz="930" dirty="0"/>
          </a:p>
        </p:txBody>
      </p:sp>
      <p:sp>
        <p:nvSpPr>
          <p:cNvPr id="36" name="Text 33"/>
          <p:cNvSpPr/>
          <p:nvPr/>
        </p:nvSpPr>
        <p:spPr>
          <a:xfrm>
            <a:off x="6620256" y="49651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65–72%</a:t>
            </a:r>
            <a:endParaRPr lang="en-US" sz="930" dirty="0"/>
          </a:p>
        </p:txBody>
      </p:sp>
      <p:sp>
        <p:nvSpPr>
          <p:cNvPr id="37" name="Text 34"/>
          <p:cNvSpPr/>
          <p:nvPr/>
        </p:nvSpPr>
        <p:spPr>
          <a:xfrm>
            <a:off x="8019288" y="49651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7.5/10 light B2B</a:t>
            </a:r>
            <a:endParaRPr lang="en-US" sz="930" dirty="0"/>
          </a:p>
        </p:txBody>
      </p:sp>
      <p:sp>
        <p:nvSpPr>
          <p:cNvPr id="38" name="Text 35"/>
          <p:cNvSpPr/>
          <p:nvPr/>
        </p:nvSpPr>
        <p:spPr>
          <a:xfrm>
            <a:off x="9418320" y="49651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₹9–12 Cr</a:t>
            </a:r>
            <a:endParaRPr lang="en-US" sz="930" dirty="0"/>
          </a:p>
        </p:txBody>
      </p:sp>
      <p:sp>
        <p:nvSpPr>
          <p:cNvPr id="39" name="Text 36"/>
          <p:cNvSpPr/>
          <p:nvPr/>
        </p:nvSpPr>
        <p:spPr>
          <a:xfrm>
            <a:off x="10817352" y="4965192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vs funded Indian incumbent</a:t>
            </a:r>
            <a:endParaRPr lang="en-US" sz="930" dirty="0"/>
          </a:p>
        </p:txBody>
      </p:sp>
      <p:sp>
        <p:nvSpPr>
          <p:cNvPr id="40" name="Shape 37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41" name="Text 38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Sitara first; Sahay is the natural second product on the same family graph; KalaOS is the safest pivot.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IDEA #3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KalaOS — the best-proven economics, the smallest dream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India-priced AI OS for wedding studios — culling 10,000-image events, style-learned editing, album design, face-recognition guest delivery — ₹1,999–9,999/mo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stack: Imagen AI $10M ARR profitable in 2.5 yrs · Aftershoot 188K photographers · HoneyBook $140M ARR · 24% of Indian wedding vendors already use AI (WedMeGood 2025)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first: India software TAM ₹450–1,350 Cr est. (smaller ceiling), head-on race vs an Indian-founded global incumbent, and a B2B-tools brand is not the consumer platform this thesis targets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revisit: as the disciplined pivot if Gate-1 fails, or a Year-3 B2B2C adjacency (studios feeding family archives)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92240" y="178308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01968" y="189280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$10M ARR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601968" y="2569464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— profitable at 2.5 yrs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281160" y="178308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390888" y="189280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188K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9390888" y="2569464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photographers on Aftershoot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92240" y="333756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01968" y="344728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₹75K–5L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6601968" y="4123944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wedding photo spend per event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81160" y="333756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390888" y="344728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~M24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9390888" y="4123944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break-even (earliest of top 3)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warm: the safest economics in the corpus, one decision away.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IDEA #2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Sahay — the bigger company, the harder company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voice-AI daily check-in calls (Hindi/regional) to parents in India + family dashboard + verified on-ground partners — $49–299/mo, paid by the NRI child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evidence: ElliQ elders average 30–40 interactions/day sustained 7+ months; families already pay $15–40/mo for AI calls (inTouch, Meela); IamFine has charged $14.99/mo for a decade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Blockers: ops 6.5/10 at the tiers that deliver peace of mind; funded incumbents (Emoha ₹85 Cr, Samarth); one mishandled emergency is existential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Sequencing: launch as product #2 on the same NRI family graph — with Dhara life-story recording and Smriti albums as its emotional layer (endorsed Combination 6)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92240" y="178308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01968" y="189280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30–40/day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601968" y="2569464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ElliQ interactions, sustained 7+ months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281160" y="178308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390888" y="189280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$15–40/mo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9390888" y="2569464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family-paid AI-call band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92240" y="333756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01968" y="344728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₹11–17K/mo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6601968" y="4123944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human-only pricing (Samarth)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81160" y="333756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390888" y="344728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9390888" y="4123944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intense pain in the whole corpus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Sahay is where this company goes next — after Sitara proves the engine.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Sitara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trust-first AI Vedic life-planning companion. It knows your chart, your family and your life story; gives a daily 60-second timing brief; explains its reasoning; and puts a verified human astrologer one tap away — with no fear-selling, ever.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2A2F6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35661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₹1,182 Cr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4114800"/>
            <a:ext cx="1883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category revenue, 80% repeat (AstroTalk FY25)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71216" y="342900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2A2F63"/>
          </a:solidFill>
          <a:ln/>
        </p:spPr>
      </p:sp>
      <p:sp>
        <p:nvSpPr>
          <p:cNvPr id="9" name="Text 7"/>
          <p:cNvSpPr/>
          <p:nvPr/>
        </p:nvSpPr>
        <p:spPr>
          <a:xfrm>
            <a:off x="2980944" y="35661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 vs 4.3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980944" y="4114800"/>
            <a:ext cx="1883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beats human astrologers at ~90% margins (AstroSage)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02352" y="342900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2A2F63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35661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4.2x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212080" y="4114800"/>
            <a:ext cx="1883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growth, no premium product serving 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33488" y="342900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2A2F63"/>
          </a:solidFill>
          <a:ln/>
        </p:spPr>
      </p:sp>
      <p:sp>
        <p:nvSpPr>
          <p:cNvPr id="15" name="Text 13"/>
          <p:cNvSpPr/>
          <p:nvPr/>
        </p:nvSpPr>
        <p:spPr>
          <a:xfrm>
            <a:off x="7443216" y="35661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3/10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443216" y="4114800"/>
            <a:ext cx="1883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complexity — lightest of any finalist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564624" y="342900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2A2F63"/>
          </a:solidFill>
          <a:ln/>
        </p:spPr>
      </p:sp>
      <p:sp>
        <p:nvSpPr>
          <p:cNvPr id="18" name="Text 16"/>
          <p:cNvSpPr/>
          <p:nvPr/>
        </p:nvSpPr>
        <p:spPr>
          <a:xfrm>
            <a:off x="9674352" y="35661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8.1/10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674352" y="4114800"/>
            <a:ext cx="1883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weighted score across all 20 ideas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$99–199/yr NRI  ·  ₹3,999–7,999/yr India   |   The one unproven leap — episodic spend → subscription — is exactly what the ₹1.25 Cr validation buys.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Priya, 34 — and Meera, 39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45920"/>
            <a:ext cx="5486400" cy="4206240"/>
          </a:xfrm>
          <a:prstGeom prst="roundRect">
            <a:avLst>
              <a:gd name="adj" fmla="val 1522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— primary (NRI)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 product manager, New Jersey; H-1B→green card; married, one daughter; parents in Pune; HH income $210K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without blinking: Calm, Peloton, Kumon, annual India tickets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 astrologers at her wedding and house purchase; follows 2 Instagram astrologers; finds AstroTalk 'sketchy but I go back'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startup job offer — 'is this the right time?'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Objection: 'Is this real Jyotish or an app gimmick?'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WTP: $199/yr in one tap — if she trusts it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645920"/>
            <a:ext cx="5486400" cy="4206240"/>
          </a:xfrm>
          <a:prstGeom prst="roundRect">
            <a:avLst>
              <a:gd name="adj" fmla="val 1522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MEERA — secondary (metro India)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46520" y="22860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 marketing head, Bengaluru; ₹28L HH income; two children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spends: therapist ₹2,000/session occasionally, family panditji at festivals, ₹500–1,000 astrology consults at decisions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honest guidance without the neighbourhood grapevine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daughter's board-exam year + husband's job change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Objection: privacy — 'who sees my birth details?'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WTP: ₹999/mo tier (Pragati), annual preferred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already spends more than our ask — on worse alternatives.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journey: habit by day 7, trust by month 3, family lock-in by month 6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783080"/>
            <a:ext cx="3621024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67512" y="19293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67512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61288" y="1947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44144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astrologer collab → free Honest-Kundli teaser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3154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moment: one chart-specific insight in 60 seconds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06824" y="1783080"/>
            <a:ext cx="3621024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71416" y="19293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4471416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65192" y="1947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89704" y="244144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min: birth details, goals, tone preference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89704" y="3154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daily brief scheduled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110728" y="1783080"/>
            <a:ext cx="3621024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5320" y="19293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8275320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769096" y="1947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93608" y="244144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60-second briefs + first decision session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93608" y="3154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chart + 3 briefs read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2920" y="3840480"/>
            <a:ext cx="3621024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67512" y="39867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2"/>
          <p:cNvSpPr/>
          <p:nvPr/>
        </p:nvSpPr>
        <p:spPr>
          <a:xfrm>
            <a:off x="667512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61288" y="4005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1–3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85800" y="449884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transit report · journal · family charts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85800" y="5212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WAU &gt;45% target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306824" y="3840480"/>
            <a:ext cx="3621024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471416" y="39867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8"/>
          <p:cNvSpPr/>
          <p:nvPr/>
        </p:nvSpPr>
        <p:spPr>
          <a:xfrm>
            <a:off x="4471416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965192" y="4005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489704" y="449884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human consult (premium tiers)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489704" y="5212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anchor + upsell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110728" y="3840480"/>
            <a:ext cx="3621024" cy="1874520"/>
          </a:xfrm>
          <a:prstGeom prst="roundRect">
            <a:avLst>
              <a:gd name="adj" fmla="val 341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8275320" y="39867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4"/>
          <p:cNvSpPr/>
          <p:nvPr/>
        </p:nvSpPr>
        <p:spPr>
          <a:xfrm>
            <a:off x="827532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8769096" y="4005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12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293608" y="449884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Year-Ahead report — beautiful, shareable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293608" y="5212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+ referral moment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42" name="Text 39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has a number attached — the funnel is measurable end to end.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screens tell the whole story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3621024" cy="192024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920240"/>
            <a:ext cx="960120" cy="1554480"/>
          </a:xfrm>
          <a:prstGeom prst="roundRect">
            <a:avLst>
              <a:gd name="adj" fmla="val 5714"/>
            </a:avLst>
          </a:prstGeom>
          <a:solidFill>
            <a:srgbClr val="2A2F63"/>
          </a:solidFill>
          <a:ln w="12700">
            <a:solidFill>
              <a:srgbClr val="4A4F8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82880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morning brief + timing windows for the day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06824" y="1737360"/>
            <a:ext cx="3621024" cy="192024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424" y="1920240"/>
            <a:ext cx="960120" cy="1554480"/>
          </a:xfrm>
          <a:prstGeom prst="roundRect">
            <a:avLst>
              <a:gd name="adj" fmla="val 5714"/>
            </a:avLst>
          </a:prstGeom>
          <a:solidFill>
            <a:srgbClr val="2A2F63"/>
          </a:solidFill>
          <a:ln w="12700">
            <a:solidFill>
              <a:srgbClr val="4A4F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32704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Companion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632704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visible memory chips — it remembers your life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10728" y="1737360"/>
            <a:ext cx="3621024" cy="192024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14" name="Shape 11"/>
          <p:cNvSpPr/>
          <p:nvPr/>
        </p:nvSpPr>
        <p:spPr>
          <a:xfrm>
            <a:off x="8339328" y="1920240"/>
            <a:ext cx="960120" cy="1554480"/>
          </a:xfrm>
          <a:prstGeom prst="roundRect">
            <a:avLst>
              <a:gd name="adj" fmla="val 5714"/>
            </a:avLst>
          </a:prstGeom>
          <a:solidFill>
            <a:srgbClr val="2A2F63"/>
          </a:solidFill>
          <a:ln w="12700">
            <a:solidFill>
              <a:srgbClr val="4A4F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36608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room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436608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'should I / when should I' → recommendation + the why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3840480"/>
            <a:ext cx="3621024" cy="192024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18" name="Shape 15"/>
          <p:cNvSpPr/>
          <p:nvPr/>
        </p:nvSpPr>
        <p:spPr>
          <a:xfrm>
            <a:off x="731520" y="4023360"/>
            <a:ext cx="960120" cy="1554480"/>
          </a:xfrm>
          <a:prstGeom prst="roundRect">
            <a:avLst>
              <a:gd name="adj" fmla="val 5714"/>
            </a:avLst>
          </a:prstGeom>
          <a:solidFill>
            <a:srgbClr val="2A2F63"/>
          </a:solidFill>
          <a:ln w="12700">
            <a:solidFill>
              <a:srgbClr val="4A4F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2880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828800" y="4572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for spouse, children, parents + festival calendar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06824" y="3840480"/>
            <a:ext cx="3621024" cy="192024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22" name="Shape 19"/>
          <p:cNvSpPr/>
          <p:nvPr/>
        </p:nvSpPr>
        <p:spPr>
          <a:xfrm>
            <a:off x="4535424" y="4023360"/>
            <a:ext cx="960120" cy="1554480"/>
          </a:xfrm>
          <a:prstGeom prst="roundRect">
            <a:avLst>
              <a:gd name="adj" fmla="val 5714"/>
            </a:avLst>
          </a:prstGeom>
          <a:solidFill>
            <a:srgbClr val="2A2F63"/>
          </a:solidFill>
          <a:ln w="12700">
            <a:solidFill>
              <a:srgbClr val="4A4F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32704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5632704" y="4572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astrologer, fixed price, your context pre-briefed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110728" y="3840480"/>
            <a:ext cx="3621024" cy="192024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26" name="Shape 23"/>
          <p:cNvSpPr/>
          <p:nvPr/>
        </p:nvSpPr>
        <p:spPr>
          <a:xfrm>
            <a:off x="8339328" y="4023360"/>
            <a:ext cx="960120" cy="1554480"/>
          </a:xfrm>
          <a:prstGeom prst="roundRect">
            <a:avLst>
              <a:gd name="adj" fmla="val 5714"/>
            </a:avLst>
          </a:prstGeom>
          <a:solidFill>
            <a:srgbClr val="2A2F63"/>
          </a:solidFill>
          <a:ln w="12700">
            <a:solidFill>
              <a:srgbClr val="4A4F8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436608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Ahead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9436608" y="4572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premium annual artefact — shareable, printable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system for life-timing — not a horoscope feed.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users pay — and why they stay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45920"/>
            <a:ext cx="5486400" cy="4206240"/>
          </a:xfrm>
          <a:prstGeom prst="roundRect">
            <a:avLst>
              <a:gd name="adj" fmla="val 1522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THEY PAY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Functional: timing windows; one trusted answer, not five contradictory ones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Emotional: reassurance without judgment, 24×7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Convenience: 2 a.m. answers across time zones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a premium, modern way to honour tradition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 less than one human consult per month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Family: shared festival calendar + family charts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645920"/>
            <a:ext cx="5486400" cy="4206240"/>
          </a:xfrm>
          <a:prstGeom prst="roundRect">
            <a:avLst>
              <a:gd name="adj" fmla="val 1522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THEY STAY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46520" y="224028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Life-context memory compounds — guidance gets sharper every month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auto-recurs: festivals, transits, dashas regenerate relevance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human consult anchors trust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charts embed the household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Year-Ahead artefact resets the annual loop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= losing the astrologer who finally remembers you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engineered into the product loop — not hoped for.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free ChatGPT cannot easily replace it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3621024" cy="1901952"/>
          </a:xfrm>
          <a:prstGeom prst="roundRect">
            <a:avLst>
              <a:gd name="adj" fmla="val 336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874520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Vedic engine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2423160"/>
            <a:ext cx="3255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ephemeris computes charts, dashas, muhurta — astronomy is calculated, never generated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4306824" y="1737360"/>
            <a:ext cx="3621024" cy="1901952"/>
          </a:xfrm>
          <a:prstGeom prst="roundRect">
            <a:avLst>
              <a:gd name="adj" fmla="val 336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89704" y="1874520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Years-deep life log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489704" y="2423160"/>
            <a:ext cx="3255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outcomes, patterns — the one asset a fresh prompt can never import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8110728" y="1737360"/>
            <a:ext cx="3621024" cy="1901952"/>
          </a:xfrm>
          <a:prstGeom prst="roundRect">
            <a:avLst>
              <a:gd name="adj" fmla="val 336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93608" y="1874520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cadence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93608" y="2423160"/>
            <a:ext cx="3255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&amp; festival alerts arrive unprompted — ChatGPT waits to be asked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02920" y="3822192"/>
            <a:ext cx="3621024" cy="1901952"/>
          </a:xfrm>
          <a:prstGeom prst="roundRect">
            <a:avLst>
              <a:gd name="adj" fmla="val 336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959352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human panel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85800" y="4507992"/>
            <a:ext cx="3255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Ethics-contracted astrologers with full context handoff — trust at high stakes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4306824" y="3822192"/>
            <a:ext cx="3621024" cy="1901952"/>
          </a:xfrm>
          <a:prstGeom prst="roundRect">
            <a:avLst>
              <a:gd name="adj" fmla="val 336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489704" y="3959352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graph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489704" y="4507992"/>
            <a:ext cx="3255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Multi-member charts, shared calendars — household infrastructure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8110728" y="3822192"/>
            <a:ext cx="3621024" cy="1901952"/>
          </a:xfrm>
          <a:prstGeom prst="roundRect">
            <a:avLst>
              <a:gd name="adj" fmla="val 3365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293608" y="3959352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covenant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293608" y="4507992"/>
            <a:ext cx="3255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 will never scare you into spending' — structurally unavailable to incumbents whose revenue is fear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 memory, trust and people — not the model.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top-right quadrant is empty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97280" y="1691640"/>
            <a:ext cx="9509760" cy="4023360"/>
          </a:xfrm>
          <a:prstGeom prst="rect">
            <a:avLst/>
          </a:prstGeom>
          <a:solidFill>
            <a:srgbClr val="F4F6FC"/>
          </a:solidFill>
          <a:ln w="12700">
            <a:solidFill>
              <a:srgbClr val="D9DC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0" y="1691640"/>
            <a:ext cx="0" cy="4023360"/>
          </a:xfrm>
          <a:prstGeom prst="line">
            <a:avLst/>
          </a:prstGeom>
          <a:noFill/>
          <a:ln w="12700">
            <a:solidFill>
              <a:srgbClr val="B9BD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0" y="3703320"/>
            <a:ext cx="9509760" cy="0"/>
          </a:xfrm>
          <a:prstGeom prst="line">
            <a:avLst/>
          </a:prstGeom>
          <a:noFill/>
          <a:ln w="12700">
            <a:solidFill>
              <a:srgbClr val="B9BD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 rot="16200000">
            <a:off x="41148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/ ETHICS →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80960" y="5806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/ PERSONALISATION →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28800" y="4572000"/>
            <a:ext cx="365760" cy="365760"/>
          </a:xfrm>
          <a:prstGeom prst="ellipse">
            <a:avLst/>
          </a:prstGeom>
          <a:solidFill>
            <a:srgbClr val="6B7086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49560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AstroTalk (₹1,182 Cr)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08960" y="4114800"/>
            <a:ext cx="365760" cy="365760"/>
          </a:xfrm>
          <a:prstGeom prst="ellipse">
            <a:avLst/>
          </a:prstGeom>
          <a:solidFill>
            <a:srgbClr val="6B7086"/>
          </a:solidFill>
          <a:ln/>
        </p:spPr>
      </p:sp>
      <p:sp>
        <p:nvSpPr>
          <p:cNvPr id="13" name="Text 10"/>
          <p:cNvSpPr/>
          <p:nvPr/>
        </p:nvSpPr>
        <p:spPr>
          <a:xfrm>
            <a:off x="2468880" y="4498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AstroSage AI (80M)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06240" y="4846320"/>
            <a:ext cx="365760" cy="365760"/>
          </a:xfrm>
          <a:prstGeom prst="ellipse">
            <a:avLst/>
          </a:prstGeom>
          <a:solidFill>
            <a:srgbClr val="6B7086"/>
          </a:solidFill>
          <a:ln/>
        </p:spPr>
      </p:sp>
      <p:sp>
        <p:nvSpPr>
          <p:cNvPr id="15" name="Text 12"/>
          <p:cNvSpPr/>
          <p:nvPr/>
        </p:nvSpPr>
        <p:spPr>
          <a:xfrm>
            <a:off x="3566160" y="5230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Nebula / Co-Star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103120" y="2103120"/>
            <a:ext cx="365760" cy="365760"/>
          </a:xfrm>
          <a:prstGeom prst="ellipse">
            <a:avLst/>
          </a:prstGeom>
          <a:solidFill>
            <a:srgbClr val="8B8FD9"/>
          </a:solidFill>
          <a:ln/>
        </p:spPr>
      </p:sp>
      <p:sp>
        <p:nvSpPr>
          <p:cNvPr id="17" name="Text 14"/>
          <p:cNvSpPr/>
          <p:nvPr/>
        </p:nvSpPr>
        <p:spPr>
          <a:xfrm>
            <a:off x="1463040" y="2487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astrologer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0" y="4206240"/>
            <a:ext cx="365760" cy="365760"/>
          </a:xfrm>
          <a:prstGeom prst="ellipse">
            <a:avLst/>
          </a:prstGeom>
          <a:solidFill>
            <a:srgbClr val="8B8FD9"/>
          </a:solidFill>
          <a:ln/>
        </p:spPr>
      </p:sp>
      <p:sp>
        <p:nvSpPr>
          <p:cNvPr id="19" name="Text 16"/>
          <p:cNvSpPr/>
          <p:nvPr/>
        </p:nvSpPr>
        <p:spPr>
          <a:xfrm>
            <a:off x="3931920" y="45902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(free)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503920" y="21488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SITARA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trust + compounding continuity: a defensible position no incumbent can chase without self-harm.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advantages — and the gap we will hire for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91640"/>
            <a:ext cx="5522976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" y="18379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product capability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04088" y="235000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programme — multi-agent, evidence-first — is itself the working demo of how we build.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8776" y="1691640"/>
            <a:ext cx="5522976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9944" y="18379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fluency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9944" y="235000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+ diaspora insight and Hinglish/Hindi product design — the exact surface incumbents ignore.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794760"/>
            <a:ext cx="5522976" cy="192024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4088" y="39410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freedom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04088" y="445312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fear-revenue to protect. The ethics covenant costs incumbents crores to copy; it costs us nothing.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08776" y="3794760"/>
            <a:ext cx="5522976" cy="1920240"/>
          </a:xfrm>
          <a:prstGeom prst="roundRect">
            <a:avLst>
              <a:gd name="adj" fmla="val 3333"/>
            </a:avLst>
          </a:prstGeom>
          <a:solidFill>
            <a:srgbClr val="FDF6E8"/>
          </a:solidFill>
          <a:ln w="9525">
            <a:solidFill>
              <a:srgbClr val="E8D9B0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9944" y="39410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gap — hired, not faked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409944" y="445312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Respected Jyotish lead as early hire/co-founder: credibility-critical, budgeted, non-negotiable.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 is product + trust posture; we buy the domain authority we lack.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in 12 weeks — every rupee buys a kill-or-scale answer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459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chart engine (licensed ephemeris) · daily brief (WhatsApp/web) · memory chat · Year-Ahead report · 5 contracted astrologers · billing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in v1: voice, community, native apps, rituals, matchmaking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3931920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0 (wk 2)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743200" y="39319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test: &gt;25% email capture from cold traffic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4434840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434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(wk 10)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743200" y="44348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50 users: M2 renewal ≥60% · M3 ≥45%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4937760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4937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(M6)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743200" y="49377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500 at $99: CAC &lt;₹4,000 · activation &gt;60%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5440680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F7F1F1"/>
          </a:solidFill>
          <a:ln w="9525">
            <a:solidFill>
              <a:srgbClr val="E7D5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5440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743200" y="5440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M2 &lt;40% or founding &lt;250 by M6 → stop or pivot; exposure capped at ₹1.25 Cr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02920" y="3493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2 engineers · founder · part-time Jyotish lead · contract designer   |   12-week build inside the ₹1.25 Cr envelope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and a hard stop-loss make this a purchase of information, not a leap of faith.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100 organic. First 1,000 paid. Then the flywheel.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45920"/>
            <a:ext cx="5577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100: r/ABCDesis + two diaspora micro-influencer astrologers + the free Honest-Kundli hook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1,000: Meta lookalikes on chart-teaser creative · festival campaigns (Navratri, wedding season) · referral = gift a family chart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SEO transit calendars · YouTube honest-astrology · wedding-platform B2B2C partnerships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guardrail ₹4,000 blended; kill any channel above ₹6,000 after 2 cohorts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0" y="1783080"/>
            <a:ext cx="525780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Validate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41080" y="1783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M1–6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0" y="2624328"/>
            <a:ext cx="525780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262432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Productise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41080" y="26243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M7–12 · voice, family charts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0" y="3465576"/>
            <a:ext cx="5257800" cy="731520"/>
          </a:xfrm>
          <a:prstGeom prst="roundRect">
            <a:avLst>
              <a:gd name="adj" fmla="val 8750"/>
            </a:avLst>
          </a:prstGeom>
          <a:solidFill>
            <a:srgbClr val="5A5FD4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346557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Scale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41080" y="346557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M13–24 · matchmaking, India tier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0" y="4306824"/>
            <a:ext cx="5257800" cy="731520"/>
          </a:xfrm>
          <a:prstGeom prst="roundRect">
            <a:avLst>
              <a:gd name="adj" fmla="val 8750"/>
            </a:avLst>
          </a:prstGeom>
          <a:solidFill>
            <a:srgbClr val="5A5FD4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0" y="430682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Expand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641080" y="430682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M25–36 · rituals module (DharmaSetu)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0" y="5148072"/>
            <a:ext cx="5257800" cy="731520"/>
          </a:xfrm>
          <a:prstGeom prst="roundRect">
            <a:avLst>
              <a:gd name="adj" fmla="val 8750"/>
            </a:avLst>
          </a:prstGeom>
          <a:solidFill>
            <a:srgbClr val="5A5FD4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0" y="51480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Platform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641080" y="514807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Y3+ · muhurat API, family-graph ecosystem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617220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6172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narrow; expand along the family graph the product itself creates.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₹1.25 crore. Buy the answer to a ₹1,182-crore question.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27080" cy="694944"/>
          </a:xfrm>
          <a:prstGeom prst="roundRect">
            <a:avLst>
              <a:gd name="adj" fmla="val 9211"/>
            </a:avLst>
          </a:prstGeom>
          <a:solidFill>
            <a:srgbClr val="2A2F6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383280" y="2148840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A: ₹1.25 Cr — validate demand and build Sitara v1 (12-week MVP + concierge + founding 500)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953512"/>
            <a:ext cx="10927080" cy="694944"/>
          </a:xfrm>
          <a:prstGeom prst="roundRect">
            <a:avLst>
              <a:gd name="adj" fmla="val 9211"/>
            </a:avLst>
          </a:prstGeom>
          <a:solidFill>
            <a:srgbClr val="2A2F6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95351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3280" y="2953512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M2 renewal ≥60% and 500 founding members by month 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758184"/>
            <a:ext cx="10927080" cy="694944"/>
          </a:xfrm>
          <a:prstGeom prst="roundRect">
            <a:avLst>
              <a:gd name="adj" fmla="val 9211"/>
            </a:avLst>
          </a:prstGeom>
          <a:solidFill>
            <a:srgbClr val="2A2F6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58184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REVIEW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3280" y="3758184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Month-6 board meeting with full cohort data → Gate-2 decision on ₹3.3 Cr launch tranche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562856"/>
            <a:ext cx="10927080" cy="694944"/>
          </a:xfrm>
          <a:prstGeom prst="roundRect">
            <a:avLst>
              <a:gd name="adj" fmla="val 9211"/>
            </a:avLst>
          </a:prstGeom>
          <a:solidFill>
            <a:srgbClr val="2A2F6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562856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VALIDATION FAILS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83280" y="4562856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 executes: exposure capped at ₹1.25 Cr; brand, astrologer panel and cohort learning reusable (pivot: hybrid credits or KalaOS)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367528"/>
            <a:ext cx="10927080" cy="694944"/>
          </a:xfrm>
          <a:prstGeom prst="roundRect">
            <a:avLst>
              <a:gd name="adj" fmla="val 9211"/>
            </a:avLst>
          </a:prstGeom>
          <a:solidFill>
            <a:srgbClr val="2A2F6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36752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SUCCEEDS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5367528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economics engage: path to 14,500+ subscribers, ₹12.2 Cr Y3 revenue, EBITDA-positive month 30 (base case)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2026-07-28T11:21:29Z</dcterms:created>
  <dcterms:modified xsi:type="dcterms:W3CDTF">2026-07-28T11:21:29Z</dcterms:modified>
</cp:coreProperties>
</file>