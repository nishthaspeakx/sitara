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Closing paying customers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/>
                  </c:pt>
                  <c:pt idx="1">
                    <c:v/>
                  </c:pt>
                  <c:pt idx="2">
                    <c:v>M3</c:v>
                  </c:pt>
                  <c:pt idx="3">
                    <c:v/>
                  </c:pt>
                  <c:pt idx="4">
                    <c:v/>
                  </c:pt>
                  <c:pt idx="5">
                    <c:v>M6</c:v>
                  </c:pt>
                  <c:pt idx="6">
                    <c:v/>
                  </c:pt>
                  <c:pt idx="7">
                    <c:v/>
                  </c:pt>
                  <c:pt idx="8">
                    <c:v>M9</c:v>
                  </c:pt>
                  <c:pt idx="9">
                    <c:v/>
                  </c:pt>
                  <c:pt idx="10">
                    <c:v/>
                  </c:pt>
                  <c:pt idx="11">
                    <c:v>M12</c:v>
                  </c:pt>
                  <c:pt idx="12">
                    <c:v/>
                  </c:pt>
                  <c:pt idx="13">
                    <c:v/>
                  </c:pt>
                  <c:pt idx="14">
                    <c:v>M15</c:v>
                  </c:pt>
                  <c:pt idx="15">
                    <c:v/>
                  </c:pt>
                  <c:pt idx="16">
                    <c:v/>
                  </c:pt>
                  <c:pt idx="17">
                    <c:v>M18</c:v>
                  </c:pt>
                  <c:pt idx="18">
                    <c:v/>
                  </c:pt>
                  <c:pt idx="19">
                    <c:v/>
                  </c:pt>
                  <c:pt idx="20">
                    <c:v>M21</c:v>
                  </c:pt>
                  <c:pt idx="21">
                    <c:v/>
                  </c:pt>
                  <c:pt idx="22">
                    <c:v/>
                  </c:pt>
                  <c:pt idx="23">
                    <c:v>M24</c:v>
                  </c:pt>
                  <c:pt idx="24">
                    <c:v/>
                  </c:pt>
                  <c:pt idx="25">
                    <c:v/>
                  </c:pt>
                  <c:pt idx="26">
                    <c:v>M27</c:v>
                  </c:pt>
                  <c:pt idx="27">
                    <c:v/>
                  </c:pt>
                  <c:pt idx="28">
                    <c:v/>
                  </c:pt>
                  <c:pt idx="29">
                    <c:v>M30</c:v>
                  </c:pt>
                  <c:pt idx="30">
                    <c:v/>
                  </c:pt>
                  <c:pt idx="31">
                    <c:v/>
                  </c:pt>
                  <c:pt idx="32">
                    <c:v>M33</c:v>
                  </c:pt>
                  <c:pt idx="33">
                    <c:v/>
                  </c:pt>
                  <c:pt idx="34">
                    <c:v/>
                  </c:pt>
                  <c:pt idx="35">
                    <c:v>M36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93</c:v>
                </c:pt>
                <c:pt idx="1">
                  <c:v>181</c:v>
                </c:pt>
                <c:pt idx="2">
                  <c:v>264</c:v>
                </c:pt>
                <c:pt idx="3">
                  <c:v>797</c:v>
                </c:pt>
                <c:pt idx="4">
                  <c:v>998</c:v>
                </c:pt>
                <c:pt idx="5">
                  <c:v>1187</c:v>
                </c:pt>
                <c:pt idx="6">
                  <c:v>1582</c:v>
                </c:pt>
                <c:pt idx="7">
                  <c:v>1954</c:v>
                </c:pt>
                <c:pt idx="8">
                  <c:v>2303</c:v>
                </c:pt>
                <c:pt idx="9">
                  <c:v>2632</c:v>
                </c:pt>
                <c:pt idx="10">
                  <c:v>2941</c:v>
                </c:pt>
                <c:pt idx="11">
                  <c:v>3231</c:v>
                </c:pt>
                <c:pt idx="12">
                  <c:v>3816</c:v>
                </c:pt>
                <c:pt idx="13">
                  <c:v>4369</c:v>
                </c:pt>
                <c:pt idx="14">
                  <c:v>4891</c:v>
                </c:pt>
                <c:pt idx="15">
                  <c:v>5385</c:v>
                </c:pt>
                <c:pt idx="16">
                  <c:v>5853</c:v>
                </c:pt>
                <c:pt idx="17">
                  <c:v>6298</c:v>
                </c:pt>
                <c:pt idx="18">
                  <c:v>6719</c:v>
                </c:pt>
                <c:pt idx="19">
                  <c:v>7121</c:v>
                </c:pt>
                <c:pt idx="20">
                  <c:v>7504</c:v>
                </c:pt>
                <c:pt idx="21">
                  <c:v>7869</c:v>
                </c:pt>
                <c:pt idx="22">
                  <c:v>8218</c:v>
                </c:pt>
                <c:pt idx="23">
                  <c:v>8552</c:v>
                </c:pt>
                <c:pt idx="24">
                  <c:v>9183</c:v>
                </c:pt>
                <c:pt idx="25">
                  <c:v>9785</c:v>
                </c:pt>
                <c:pt idx="26">
                  <c:v>10360</c:v>
                </c:pt>
                <c:pt idx="27">
                  <c:v>10910</c:v>
                </c:pt>
                <c:pt idx="28">
                  <c:v>11437</c:v>
                </c:pt>
                <c:pt idx="29">
                  <c:v>11943</c:v>
                </c:pt>
                <c:pt idx="30">
                  <c:v>12429</c:v>
                </c:pt>
                <c:pt idx="31">
                  <c:v>12896</c:v>
                </c:pt>
                <c:pt idx="32">
                  <c:v>13340</c:v>
                </c:pt>
                <c:pt idx="33">
                  <c:v>13762</c:v>
                </c:pt>
                <c:pt idx="34">
                  <c:v>14163</c:v>
                </c:pt>
                <c:pt idx="35">
                  <c:v>14544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(₹)</c:v>
                </c:pt>
              </c:strCache>
            </c:strRef>
          </c:tx>
          <c:spPr>
            <a:solidFill>
              <a:srgbClr val="1A7F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F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F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08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Referral</c:v>
                  </c:pt>
                  <c:pt idx="1">
                    <c:v>Community/organic</c:v>
                  </c:pt>
                  <c:pt idx="2">
                    <c:v>Influencers</c:v>
                  </c:pt>
                  <c:pt idx="3">
                    <c:v>Festival campaigns</c:v>
                  </c:pt>
                  <c:pt idx="4">
                    <c:v>Meta diaspora</c:v>
                  </c:pt>
                  <c:pt idx="5">
                    <c:v>Google intent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800</c:v>
                </c:pt>
                <c:pt idx="1">
                  <c:v>1200</c:v>
                </c:pt>
                <c:pt idx="2">
                  <c:v>3000</c:v>
                </c:pt>
                <c:pt idx="3">
                  <c:v>3400</c:v>
                </c:pt>
                <c:pt idx="4">
                  <c:v>4200</c:v>
                </c:pt>
                <c:pt idx="5">
                  <c:v>4800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7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per customer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 (7.5% churn)</c:v>
                  </c:pt>
                  <c:pt idx="1">
                    <c:v>Base (6.0%)</c:v>
                  </c:pt>
                  <c:pt idx="2">
                    <c:v>Aggressive (4.5%)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8590</c:v>
                </c:pt>
                <c:pt idx="1">
                  <c:v>11306</c:v>
                </c:pt>
                <c:pt idx="2">
                  <c:v>15067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CAC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 (7.5% churn)</c:v>
                  </c:pt>
                  <c:pt idx="1">
                    <c:v>Base (6.0%)</c:v>
                  </c:pt>
                  <c:pt idx="2">
                    <c:v>Aggressive (4.5%)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4500</c:v>
                </c:pt>
                <c:pt idx="1">
                  <c:v>3600</c:v>
                </c:pt>
                <c:pt idx="2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A5FD4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8B8FD9"/>
              </a:solidFill>
              <a:effectLst/>
            </c:spPr>
          </c:dPt>
          <c:dPt>
            <c:idx val="4"/>
            <c:bubble3D val="0"/>
            <c:spPr>
              <a:solidFill>
                <a:srgbClr val="ADB1E6"/>
              </a:solidFill>
              <a:effectLst/>
            </c:spPr>
          </c:dPt>
          <c:dPt>
            <c:idx val="5"/>
            <c:bubble3D val="0"/>
            <c:spPr>
              <a:solidFill>
                <a:srgbClr val="C9CCE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Product &amp; technology 38%</c:v>
                </c:pt>
                <c:pt idx="1">
                  <c:v>Marketing 30%</c:v>
                </c:pt>
                <c:pt idx="2">
                  <c:v>Content &amp; expert layer 12%</c:v>
                </c:pt>
                <c:pt idx="3">
                  <c:v>Operations 8%</c:v>
                </c:pt>
                <c:pt idx="4">
                  <c:v>Legal &amp; compliance 5%</c:v>
                </c:pt>
                <c:pt idx="5">
                  <c:v>Contingency 7%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38</c:v>
                </c:pt>
                <c:pt idx="1">
                  <c:v>30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  <c:pt idx="5">
                  <c:v>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(₹ lakh/mo)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/>
                  </c:pt>
                  <c:pt idx="1">
                    <c:v/>
                  </c:pt>
                  <c:pt idx="2">
                    <c:v>M3</c:v>
                  </c:pt>
                  <c:pt idx="3">
                    <c:v/>
                  </c:pt>
                  <c:pt idx="4">
                    <c:v/>
                  </c:pt>
                  <c:pt idx="5">
                    <c:v>M6</c:v>
                  </c:pt>
                  <c:pt idx="6">
                    <c:v/>
                  </c:pt>
                  <c:pt idx="7">
                    <c:v/>
                  </c:pt>
                  <c:pt idx="8">
                    <c:v>M9</c:v>
                  </c:pt>
                  <c:pt idx="9">
                    <c:v/>
                  </c:pt>
                  <c:pt idx="10">
                    <c:v/>
                  </c:pt>
                  <c:pt idx="11">
                    <c:v>M12</c:v>
                  </c:pt>
                  <c:pt idx="12">
                    <c:v/>
                  </c:pt>
                  <c:pt idx="13">
                    <c:v/>
                  </c:pt>
                  <c:pt idx="14">
                    <c:v>M15</c:v>
                  </c:pt>
                  <c:pt idx="15">
                    <c:v/>
                  </c:pt>
                  <c:pt idx="16">
                    <c:v/>
                  </c:pt>
                  <c:pt idx="17">
                    <c:v>M18</c:v>
                  </c:pt>
                  <c:pt idx="18">
                    <c:v/>
                  </c:pt>
                  <c:pt idx="19">
                    <c:v/>
                  </c:pt>
                  <c:pt idx="20">
                    <c:v>M21</c:v>
                  </c:pt>
                  <c:pt idx="21">
                    <c:v/>
                  </c:pt>
                  <c:pt idx="22">
                    <c:v/>
                  </c:pt>
                  <c:pt idx="23">
                    <c:v>M24</c:v>
                  </c:pt>
                  <c:pt idx="24">
                    <c:v/>
                  </c:pt>
                  <c:pt idx="25">
                    <c:v/>
                  </c:pt>
                  <c:pt idx="26">
                    <c:v>M27</c:v>
                  </c:pt>
                  <c:pt idx="27">
                    <c:v/>
                  </c:pt>
                  <c:pt idx="28">
                    <c:v/>
                  </c:pt>
                  <c:pt idx="29">
                    <c:v>M30</c:v>
                  </c:pt>
                  <c:pt idx="30">
                    <c:v/>
                  </c:pt>
                  <c:pt idx="31">
                    <c:v/>
                  </c:pt>
                  <c:pt idx="32">
                    <c:v>M33</c:v>
                  </c:pt>
                  <c:pt idx="33">
                    <c:v/>
                  </c:pt>
                  <c:pt idx="34">
                    <c:v/>
                  </c:pt>
                  <c:pt idx="35">
                    <c:v>M36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0.4</c:v>
                </c:pt>
                <c:pt idx="1">
                  <c:v>1.2</c:v>
                </c:pt>
                <c:pt idx="2">
                  <c:v>1.9</c:v>
                </c:pt>
                <c:pt idx="3">
                  <c:v>4.5</c:v>
                </c:pt>
                <c:pt idx="4">
                  <c:v>7.7</c:v>
                </c:pt>
                <c:pt idx="5">
                  <c:v>9.4</c:v>
                </c:pt>
                <c:pt idx="6">
                  <c:v>11.9</c:v>
                </c:pt>
                <c:pt idx="7">
                  <c:v>15.2</c:v>
                </c:pt>
                <c:pt idx="8">
                  <c:v>18.3</c:v>
                </c:pt>
                <c:pt idx="9">
                  <c:v>21.2</c:v>
                </c:pt>
                <c:pt idx="10">
                  <c:v>23.9</c:v>
                </c:pt>
                <c:pt idx="11">
                  <c:v>26.5</c:v>
                </c:pt>
                <c:pt idx="12">
                  <c:v>30.2</c:v>
                </c:pt>
                <c:pt idx="13">
                  <c:v>35.1</c:v>
                </c:pt>
                <c:pt idx="14">
                  <c:v>39.7</c:v>
                </c:pt>
                <c:pt idx="15">
                  <c:v>44.1</c:v>
                </c:pt>
                <c:pt idx="16">
                  <c:v>48.2</c:v>
                </c:pt>
                <c:pt idx="17">
                  <c:v>52.1</c:v>
                </c:pt>
                <c:pt idx="18">
                  <c:v>55.8</c:v>
                </c:pt>
                <c:pt idx="19">
                  <c:v>59.4</c:v>
                </c:pt>
                <c:pt idx="20">
                  <c:v>62.7</c:v>
                </c:pt>
                <c:pt idx="21">
                  <c:v>65.9</c:v>
                </c:pt>
                <c:pt idx="22">
                  <c:v>69</c:v>
                </c:pt>
                <c:pt idx="23">
                  <c:v>71.9</c:v>
                </c:pt>
                <c:pt idx="24">
                  <c:v>76.1</c:v>
                </c:pt>
                <c:pt idx="25">
                  <c:v>81.4</c:v>
                </c:pt>
                <c:pt idx="26">
                  <c:v>86.4</c:v>
                </c:pt>
                <c:pt idx="27">
                  <c:v>91.3</c:v>
                </c:pt>
                <c:pt idx="28">
                  <c:v>95.9</c:v>
                </c:pt>
                <c:pt idx="29">
                  <c:v>100.3</c:v>
                </c:pt>
                <c:pt idx="30">
                  <c:v>104.6</c:v>
                </c:pt>
                <c:pt idx="31">
                  <c:v>108.6</c:v>
                </c:pt>
                <c:pt idx="32">
                  <c:v>112.6</c:v>
                </c:pt>
                <c:pt idx="33">
                  <c:v>116.3</c:v>
                </c:pt>
                <c:pt idx="34">
                  <c:v>119.8</c:v>
                </c:pt>
                <c:pt idx="35">
                  <c:v>123.2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lakh/mo)</c:v>
                </c:pt>
              </c:strCache>
            </c:strRef>
          </c:tx>
          <c:spPr>
            <a:solidFill>
              <a:srgbClr val="C9A227"/>
            </a:solidFill>
            <a:ln w="3175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/>
                  </c:pt>
                  <c:pt idx="1">
                    <c:v/>
                  </c:pt>
                  <c:pt idx="2">
                    <c:v>M3</c:v>
                  </c:pt>
                  <c:pt idx="3">
                    <c:v/>
                  </c:pt>
                  <c:pt idx="4">
                    <c:v/>
                  </c:pt>
                  <c:pt idx="5">
                    <c:v>M6</c:v>
                  </c:pt>
                  <c:pt idx="6">
                    <c:v/>
                  </c:pt>
                  <c:pt idx="7">
                    <c:v/>
                  </c:pt>
                  <c:pt idx="8">
                    <c:v>M9</c:v>
                  </c:pt>
                  <c:pt idx="9">
                    <c:v/>
                  </c:pt>
                  <c:pt idx="10">
                    <c:v/>
                  </c:pt>
                  <c:pt idx="11">
                    <c:v>M12</c:v>
                  </c:pt>
                  <c:pt idx="12">
                    <c:v/>
                  </c:pt>
                  <c:pt idx="13">
                    <c:v/>
                  </c:pt>
                  <c:pt idx="14">
                    <c:v>M15</c:v>
                  </c:pt>
                  <c:pt idx="15">
                    <c:v/>
                  </c:pt>
                  <c:pt idx="16">
                    <c:v/>
                  </c:pt>
                  <c:pt idx="17">
                    <c:v>M18</c:v>
                  </c:pt>
                  <c:pt idx="18">
                    <c:v/>
                  </c:pt>
                  <c:pt idx="19">
                    <c:v/>
                  </c:pt>
                  <c:pt idx="20">
                    <c:v>M21</c:v>
                  </c:pt>
                  <c:pt idx="21">
                    <c:v/>
                  </c:pt>
                  <c:pt idx="22">
                    <c:v/>
                  </c:pt>
                  <c:pt idx="23">
                    <c:v>M24</c:v>
                  </c:pt>
                  <c:pt idx="24">
                    <c:v/>
                  </c:pt>
                  <c:pt idx="25">
                    <c:v/>
                  </c:pt>
                  <c:pt idx="26">
                    <c:v>M27</c:v>
                  </c:pt>
                  <c:pt idx="27">
                    <c:v/>
                  </c:pt>
                  <c:pt idx="28">
                    <c:v/>
                  </c:pt>
                  <c:pt idx="29">
                    <c:v>M30</c:v>
                  </c:pt>
                  <c:pt idx="30">
                    <c:v/>
                  </c:pt>
                  <c:pt idx="31">
                    <c:v/>
                  </c:pt>
                  <c:pt idx="32">
                    <c:v>M33</c:v>
                  </c:pt>
                  <c:pt idx="33">
                    <c:v/>
                  </c:pt>
                  <c:pt idx="34">
                    <c:v/>
                  </c:pt>
                  <c:pt idx="35">
                    <c:v>M36</c:v>
                  </c:pt>
                </c:lvl>
              </c:multiLvlStrCache>
            </c:multiLvlStrRef>
          </c:cat>
          <c:val>
            <c:numRef>
              <c:f>Sheet1!$C$2:$C$37</c:f>
              <c:numCache>
                <c:formatCode>General</c:formatCode>
                <c:ptCount val="36"/>
                <c:pt idx="0">
                  <c:v>-17</c:v>
                </c:pt>
                <c:pt idx="1">
                  <c:v>-16.3</c:v>
                </c:pt>
                <c:pt idx="2">
                  <c:v>-15.8</c:v>
                </c:pt>
                <c:pt idx="3">
                  <c:v>-18.7</c:v>
                </c:pt>
                <c:pt idx="4">
                  <c:v>-16.2</c:v>
                </c:pt>
                <c:pt idx="5">
                  <c:v>-14.9</c:v>
                </c:pt>
                <c:pt idx="6">
                  <c:v>-32.9</c:v>
                </c:pt>
                <c:pt idx="7">
                  <c:v>-30.3</c:v>
                </c:pt>
                <c:pt idx="8">
                  <c:v>-27.8</c:v>
                </c:pt>
                <c:pt idx="9">
                  <c:v>-25.5</c:v>
                </c:pt>
                <c:pt idx="10">
                  <c:v>-23.4</c:v>
                </c:pt>
                <c:pt idx="11">
                  <c:v>-21.3</c:v>
                </c:pt>
                <c:pt idx="12">
                  <c:v>-28.4</c:v>
                </c:pt>
                <c:pt idx="13">
                  <c:v>-24.5</c:v>
                </c:pt>
                <c:pt idx="14">
                  <c:v>-20.9</c:v>
                </c:pt>
                <c:pt idx="15">
                  <c:v>-17.4</c:v>
                </c:pt>
                <c:pt idx="16">
                  <c:v>-14.2</c:v>
                </c:pt>
                <c:pt idx="17">
                  <c:v>-11.1</c:v>
                </c:pt>
                <c:pt idx="18">
                  <c:v>-24.3</c:v>
                </c:pt>
                <c:pt idx="19">
                  <c:v>-21.5</c:v>
                </c:pt>
                <c:pt idx="20">
                  <c:v>-18.9</c:v>
                </c:pt>
                <c:pt idx="21">
                  <c:v>-16.3</c:v>
                </c:pt>
                <c:pt idx="22">
                  <c:v>-13.9</c:v>
                </c:pt>
                <c:pt idx="23">
                  <c:v>-11.6</c:v>
                </c:pt>
                <c:pt idx="24">
                  <c:v>-18.3</c:v>
                </c:pt>
                <c:pt idx="25">
                  <c:v>-14.1</c:v>
                </c:pt>
                <c:pt idx="26">
                  <c:v>-10.1</c:v>
                </c:pt>
                <c:pt idx="27">
                  <c:v>-6.3</c:v>
                </c:pt>
                <c:pt idx="28">
                  <c:v>-2.7</c:v>
                </c:pt>
                <c:pt idx="29">
                  <c:v>0.8</c:v>
                </c:pt>
                <c:pt idx="30">
                  <c:v>4.2</c:v>
                </c:pt>
                <c:pt idx="31">
                  <c:v>7.4</c:v>
                </c:pt>
                <c:pt idx="32">
                  <c:v>10.5</c:v>
                </c:pt>
                <c:pt idx="33">
                  <c:v>13.5</c:v>
                </c:pt>
                <c:pt idx="34">
                  <c:v>16.2</c:v>
                </c:pt>
                <c:pt idx="35">
                  <c:v>18.9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Y3 revenue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</c:v>
                  </c:pt>
                  <c:pt idx="2">
                    <c:v>Aggressive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6.2</c:v>
                </c:pt>
                <c:pt idx="1">
                  <c:v>12.16</c:v>
                </c:pt>
                <c:pt idx="2">
                  <c:v>22.64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Y3 EBITDA (₹ Cr)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</c:v>
                  </c:pt>
                  <c:pt idx="2">
                    <c:v>Aggressive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-3.74</c:v>
                </c:pt>
                <c:pt idx="1">
                  <c:v>0.2</c:v>
                </c:pt>
                <c:pt idx="2">
                  <c:v>6.33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0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to Deck 1. Every number traces to the attached Excel model (17 sheets, live formulas). Base case unless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from the recalculated model. EBITDA turns positive in month 30 (base). Peak funding ₹7.85 Cr staged across three gated tranches; the board only ever has one tranche at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model only contains proven-shape streams. Future streams (rituals commission, B2B API, family plans) are upside, never in the base numbers — that is why the base looks modest and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prices GST-inclusive; model revenue net of 18% GST. NRI plans are zero-rated exports. Mix is a management estimate to be replaced by cohort data. Blended net ARPU ₹815/mo + ₹65 add-ons = ₹880.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slide. Colour meaning: FACT (published), BENCHMARK (named competitor), ESTIMATE (management). Every one lives in the Assumptions sheet and every board number recalculates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+ new (marketing÷CAC ×1.12 referral) − churn = closing. Founding-500 bump at M4. Churn glidepath 6%→5% from M13 as annual mix seasons. Conservative M36: 7,538; aggressive: 24,345.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Rates are management estimates until Gate-1 cohorts replace them. The funnel reconciles exactly to the growth model's new-customer line and the ₹15L monthly marketing spend at M12.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Channel CACs are estimates anchored on AstroTalk's published domestic CAC and standard diaspora Meta auction economics. Kill-rule: any channel &gt;₹6,000 after two cohorts is 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LTV = contribution ₹678/mo ÷ churn 6%. No upsell or referral credit is included in LTV — genuine conservatism. At the Y3 churn target (5%) LTV rises to ₹13,560 (3.8x).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Contribution ₹678/user/month (77%). Per-plan: NRI Premium contributes ₹1,595/mo at 89%; India Aarambh ₹204/mo at 60% — the India tier exists for strategic breadth, the NRI tier pays the bills.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line-item detail in the Excel. Contingency 7% held unallocated. Marketing ramps only after Gate-1 passes — the allocation is gate-shaped, not calendar-shaped.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prove demand before scale capital. The concierge test (real astrologer + operator over WhatsApp) runs before serious code. Founding-500 annuals contribute ~₹27L cash offset. Max loss = ₹1.25 Cr, ~₹95L net of founding cash.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Engages only if Gate 1 passes. Burn peaks ~₹22L/month; deferred annual cash softens working capital. Milestones are the Gate-3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Engages only after independent cohort audit. Adds India tier scaling, matchmaking reports, rituals module. Constraint stated plainly: capital cannot buy retention — if churn drifts, spend throttles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columns shown for readability; monthly detail in Excel P&amp;L sheet. Y1 EBITDA −₹2.60 Cr is the validation-and-launch investment expressed in P&amp;L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 holds at 79%. Y3 turns EBITDA-positive at +₹0.20 Cr with the year's later months at +₹16–19L/month — the Y4 profit engine. Depreciation negligible (asset-light); tax nil until carry-forwards absorb.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tranches, each gated. Deferred annual-plan cash (₹1.0+ Cr cumulative) is a real working-capital cushion. Minimum cash ₹31L occurs at M6 — tranche-B timing is deliberately placed against it; the board can advance it two weeks if Gate-1 clears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series direct from the model. The crossover at M30 is the base case; aggressive M23; conservative never (stop-loss intervenes long before).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customers = fixed costs ÷ contribution per customer. Cash-to-BE is cumulative EBITDA burn until the crossover month. Conservative case does not break even in 36 months — which is why gates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combines churn 7.5% + CAC ₹4,500 + ARPU −8% + marketing −20%. Aggressive requires proof before spend. Y3 EBITDA range spans −₹3.7 Cr to +₹6.3 Cr — the spread IS the argument for staged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Single-variable stresses (closed-form approximations; Excel Sensitivity sheet). The three biggest drivers — churn, ARPU, CAC — are precisely what Gate-1 measures. That is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Levels adjusted to the staged structure. Honesty rule applied: capital does not buy retention — every level hits the same gates. ROI shapes are ranges, not promises; the model's base case is the ₹7.85 Cr staged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ARPU/churn/CAC logic applied top-down (Excel Idea Comparison sheet); ranges, not precision. Sitara has the best balance of ceiling, margin, ops and validation cost. KalaOS = cheapest break-even, smallest ceiling. Sahay = biggest Y3, biggest cash and ops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conservative case is shown unflinchingly. The gates exist precisely so the board's exposure to this case is ₹1.25 Cr (Gate 1) or ₹4.55 Cr (Gate 2) — never the full ₹7.85 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risk maps to a mitigation already embedded in plan or product. The ethics code is simultaneously brand, regulatory shield, and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MIS + quarterly deep reviews; independent cohort audit before scale tranche. The board sees churn curves, not vanity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is Option 2. Option 4 assessed honestly: no ethics-compatible acquisition target exists; partnership optionality (e.g., AstroSage compute/supply) noted for Scenario C, not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one-liner: Rs1.25 crore buys the answer to a Rs1,182-crore question. If the answer is no, we lose 1.6% of the category leader's ANNUAL PROFIT. If yes, we own the premium trust position in a category going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documents ship with this deck. Formulas are editable; recalculation verified (2,044 formulas, zero errors).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on this slide for questions. Key backup slides: sensitivity (21), downside (24), idea comparison (23).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BOARD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Case &amp; Three-Year Financial Plan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Sitara — bottom-up model · conservative / base / aggressive cases · staged capital with hard gates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2 of 2 · 28 July 2026 · All ₹ figures net of GST unless stated · FX assumption ₹90/$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financial story on one slide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4592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" y="17556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₹1.25 Cr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12648" y="241401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ask (Scenario A)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88920" y="164592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898648" y="17556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₹4.55 Cr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898648" y="241401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staged total (A+B)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74920" y="164592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84648" y="17556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184648" y="241401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EBITDA-positive month (base)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60920" y="164592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70648" y="17556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₹1.42 Cr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470648" y="241401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revenue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646920" y="164592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756648" y="175564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₹6.34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756648" y="241401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 revenue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320040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2648" y="33101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₹12.16 Cr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12648" y="39684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revenue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88920" y="320040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898648" y="33101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+₹0.20 Cr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2898648" y="39684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Year-3 EBITDA (2%)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74920" y="320040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184648" y="33101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₹7.85 Cr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5184648" y="39684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staged funding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60920" y="320040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470648" y="33101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₹11,306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7470648" y="39684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vs CAC ₹3,600 (3.1x)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9646920" y="3200400"/>
            <a:ext cx="2157984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756648" y="33101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9756648" y="39684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financial risk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02920" y="4892040"/>
            <a:ext cx="11183112" cy="1051560"/>
          </a:xfrm>
          <a:prstGeom prst="roundRect">
            <a:avLst>
              <a:gd name="adj" fmla="val 6087"/>
            </a:avLst>
          </a:prstGeom>
          <a:solidFill>
            <a:srgbClr val="FDF6E8"/>
          </a:solidFill>
          <a:ln w="9525">
            <a:solidFill>
              <a:srgbClr val="E8D9B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731520" y="48920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note: </a:t>
            </a:r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deliberately conservative bottom-up build. 3-yr cumulative EBITDA is −₹4.63 Cr; the business is a Year-4 profit story funded by ₹7.85 Cr of staged, gated capital. The aggressive case (₹22.6 Cr Y3 revenue, +₹6.3 Cr EBITDA) requires churn ≤4.5% — only claimable after cohorts prove it.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8" name="Text 35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₹7.85 Cr buys a ₹14.8 Cr exit-ARR business at base — and caps every tranche's risk with a gate.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streams: core vs future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5522976" cy="3931920"/>
          </a:xfrm>
          <a:prstGeom prst="roundRect">
            <a:avLst>
              <a:gd name="adj" fmla="val 1628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CORE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377440"/>
            <a:ext cx="5074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subscriptions (40% of subs)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subscriptions (60%; cash collected upfront, revenue recognised monthly)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tiers (25% of subs; consult minutes included)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Add-ons: extra consult minutes, premium reports (~8% attach)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8776" y="1691640"/>
            <a:ext cx="5522976" cy="3931920"/>
          </a:xfrm>
          <a:prstGeom prst="roundRect">
            <a:avLst>
              <a:gd name="adj" fmla="val 1628"/>
            </a:avLst>
          </a:prstGeom>
          <a:solidFill>
            <a:srgbClr val="F7F7F9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37376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0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UPSIDE (not modelled)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37376" y="2377440"/>
            <a:ext cx="5074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plans (priced per household)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 fulfilment commission (DharmaSetu module, 20–25% take)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/ kundli reports at wedding season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muhurat API (wedding platforms) · white-label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speculative sits in the P&amp;L. Upside is listed, labelled, and excluded.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architecture — four plans, two markets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286000"/>
                <a:gridCol w="1097280"/>
                <a:gridCol w="1097280"/>
                <a:gridCol w="822960"/>
                <a:gridCol w="1463040"/>
                <a:gridCol w="2862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eff. ₹/mo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Incl. human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NRI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NRI individual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NRI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NRI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₹1,795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consult-min / quarter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Aarambh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Pragati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India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consult-min / quarter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42976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12648" y="4407408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₹880/mo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12648" y="5065776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total ARPU (net) incl. add-ons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206240" y="42976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315968" y="4407408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315968" y="5065776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share — cash ahead of revenue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909560" y="4297680"/>
            <a:ext cx="356616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019288" y="4407408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019288" y="5065776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gross margin (model output)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Annual-first pricing hedges the churn risk and funds working capital.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assumptions — with their sources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1554480"/>
                <a:gridCol w="5148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CAC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Benchmark+est.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AstroTalk domestic ₹575–870 (Entrackr); NRI premium 4–5x assumed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 (base)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Benchmark+est.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Recurly DTC 6.5%/mo; annual-mix damping; VALIDATION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Visitor→trial / trial→paid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 / 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Gate-1 replaces with cohort actuals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share of new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Family-chart gifting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money-back guarantee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+ infra cost / user /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+ ephemeris + cloud at Jul-2026 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minutes / user / 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Premium-tier allowance blended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+ payment fees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 + 2.8%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Fact/est.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Stripe/Razorpay published pricing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 / $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assumptions decide everything — churn, ARPU, CAC — and Gate-1 measures all three.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customers — 36-month build (base case)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7406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8183880" y="1783080"/>
            <a:ext cx="347472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293608" y="1892808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3,231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8293608" y="2551176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month-12 payers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8183880" y="3246120"/>
            <a:ext cx="347472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8293608" y="3355848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8,552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93608" y="4014216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month-24 payers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83880" y="4709160"/>
            <a:ext cx="347472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293608" y="4818888"/>
            <a:ext cx="32552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14,544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293608" y="5477256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month-36 payers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hockey stick: growth is marketing-spend ÷ CAC, damped by churn, every month.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funnel — representative month (M12)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82396" y="1691640"/>
            <a:ext cx="10424160" cy="621792"/>
          </a:xfrm>
          <a:prstGeom prst="roundRect">
            <a:avLst>
              <a:gd name="adj" fmla="val 8824"/>
            </a:avLst>
          </a:prstGeom>
          <a:solidFill>
            <a:srgbClr val="5A5FD4"/>
          </a:solidFill>
          <a:ln/>
        </p:spPr>
      </p:sp>
      <p:sp>
        <p:nvSpPr>
          <p:cNvPr id="6" name="Text 3"/>
          <p:cNvSpPr/>
          <p:nvPr/>
        </p:nvSpPr>
        <p:spPr>
          <a:xfrm>
            <a:off x="1156716" y="169164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  ~3.1M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111996" y="16916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91056" y="2404872"/>
            <a:ext cx="9006840" cy="621792"/>
          </a:xfrm>
          <a:prstGeom prst="roundRect">
            <a:avLst>
              <a:gd name="adj" fmla="val 8824"/>
            </a:avLst>
          </a:prstGeom>
          <a:solidFill>
            <a:srgbClr val="5A5FD4"/>
          </a:solidFill>
          <a:ln/>
        </p:spPr>
      </p:sp>
      <p:sp>
        <p:nvSpPr>
          <p:cNvPr id="9" name="Text 6"/>
          <p:cNvSpPr/>
          <p:nvPr/>
        </p:nvSpPr>
        <p:spPr>
          <a:xfrm>
            <a:off x="1865376" y="2404872"/>
            <a:ext cx="6720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  ~13,900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03336" y="2404872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visit-to-trial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99716" y="3118104"/>
            <a:ext cx="7589520" cy="621792"/>
          </a:xfrm>
          <a:prstGeom prst="roundRect">
            <a:avLst>
              <a:gd name="adj" fmla="val 8824"/>
            </a:avLst>
          </a:prstGeom>
          <a:solidFill>
            <a:srgbClr val="5A5FD4"/>
          </a:solidFill>
          <a:ln/>
        </p:spPr>
      </p:sp>
      <p:sp>
        <p:nvSpPr>
          <p:cNvPr id="12" name="Text 9"/>
          <p:cNvSpPr/>
          <p:nvPr/>
        </p:nvSpPr>
        <p:spPr>
          <a:xfrm>
            <a:off x="2574036" y="3118104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/ Honest-Kundli   ~1,700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694676" y="311810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trial-to-paid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008376" y="3831336"/>
            <a:ext cx="617220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3282696" y="3831336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paid customers   417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986016" y="383133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₹3,600 CAC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17036" y="4544568"/>
            <a:ext cx="475488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3991356" y="45445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Referrals   50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277356" y="454456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of funnel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425696" y="5257800"/>
            <a:ext cx="333756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4700016" y="525780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M2+   ~85%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568696" y="525780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month-2 cohort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ties to spend and CAC — no orphan conversion claims.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 by channel → blended ₹3,600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7772400" y="192024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mix: Meta 40% · Google 15% · influencers 15% · community 12% · referral 10% · festivals 8%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₹3,600 = weighted average (Marketing sheet)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loop: gifting a family chart costs ₹800 and deepens the moat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AstroTalk recovers CAC in 6–8 months; our payback is 5.3 months at 3x their ARPU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₹3,600 with a payback of 5.3 months — conservative against the category benchmark.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 ₹11,306 · LTV:CAC 3.1x · payback 5.3 months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635240" y="178308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744968" y="1892808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3.1x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744968" y="2551176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(base)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9509760" y="178308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9619488" y="1892808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 mo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619488" y="2551176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635240" y="338328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744968" y="3493008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 mo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744968" y="4151376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customer life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509760" y="338328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619488" y="3493008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1.9x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619488" y="4151376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ratio — the floor that triggers stop-loss debate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clear the 3x bar without any upsell credit — and fail gracefully, visibly, if churn slips.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₹880 goes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2011680"/>
            <a:ext cx="1408176" cy="3246120"/>
          </a:xfrm>
          <a:prstGeom prst="roundRect">
            <a:avLst>
              <a:gd name="adj" fmla="val 3247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645920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34924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ARPU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20824" y="4655127"/>
            <a:ext cx="1408176" cy="602673"/>
          </a:xfrm>
          <a:prstGeom prst="roundRect">
            <a:avLst>
              <a:gd name="adj" fmla="val 7586"/>
            </a:avLst>
          </a:prstGeom>
          <a:solidFill>
            <a:srgbClr val="6B7086"/>
          </a:solidFill>
          <a:ln/>
        </p:spPr>
      </p:sp>
      <p:sp>
        <p:nvSpPr>
          <p:cNvPr id="9" name="Text 6"/>
          <p:cNvSpPr/>
          <p:nvPr/>
        </p:nvSpPr>
        <p:spPr>
          <a:xfrm>
            <a:off x="2020824" y="4289367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-85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75104" y="534924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infra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38728" y="4788131"/>
            <a:ext cx="1408176" cy="469669"/>
          </a:xfrm>
          <a:prstGeom prst="roundRect">
            <a:avLst>
              <a:gd name="adj" fmla="val 9735"/>
            </a:avLst>
          </a:prstGeom>
          <a:solidFill>
            <a:srgbClr val="6B7086"/>
          </a:solidFill>
          <a:ln/>
        </p:spPr>
      </p:sp>
      <p:sp>
        <p:nvSpPr>
          <p:cNvPr id="12" name="Text 9"/>
          <p:cNvSpPr/>
          <p:nvPr/>
        </p:nvSpPr>
        <p:spPr>
          <a:xfrm>
            <a:off x="3538728" y="4422371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93008" y="534924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minutes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56632" y="4854633"/>
            <a:ext cx="1408176" cy="403167"/>
          </a:xfrm>
          <a:prstGeom prst="roundRect">
            <a:avLst>
              <a:gd name="adj" fmla="val 11340"/>
            </a:avLst>
          </a:prstGeom>
          <a:solidFill>
            <a:srgbClr val="6B7086"/>
          </a:solidFill>
          <a:ln/>
        </p:spPr>
      </p:sp>
      <p:sp>
        <p:nvSpPr>
          <p:cNvPr id="15" name="Text 12"/>
          <p:cNvSpPr/>
          <p:nvPr/>
        </p:nvSpPr>
        <p:spPr>
          <a:xfrm>
            <a:off x="5056632" y="4488873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10912" y="534924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74536" y="4854633"/>
            <a:ext cx="1408176" cy="403167"/>
          </a:xfrm>
          <a:prstGeom prst="roundRect">
            <a:avLst>
              <a:gd name="adj" fmla="val 11340"/>
            </a:avLst>
          </a:prstGeom>
          <a:solidFill>
            <a:srgbClr val="6B7086"/>
          </a:solidFill>
          <a:ln/>
        </p:spPr>
      </p:sp>
      <p:sp>
        <p:nvSpPr>
          <p:cNvPr id="18" name="Text 15"/>
          <p:cNvSpPr/>
          <p:nvPr/>
        </p:nvSpPr>
        <p:spPr>
          <a:xfrm>
            <a:off x="6574536" y="4488873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28816" y="534924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2.8%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092440" y="4864608"/>
            <a:ext cx="1408176" cy="393192"/>
          </a:xfrm>
          <a:prstGeom prst="roundRect">
            <a:avLst>
              <a:gd name="adj" fmla="val 11628"/>
            </a:avLst>
          </a:prstGeom>
          <a:solidFill>
            <a:srgbClr val="6B7086"/>
          </a:solidFill>
          <a:ln/>
        </p:spPr>
      </p:sp>
      <p:sp>
        <p:nvSpPr>
          <p:cNvPr id="21" name="Text 18"/>
          <p:cNvSpPr/>
          <p:nvPr/>
        </p:nvSpPr>
        <p:spPr>
          <a:xfrm>
            <a:off x="8092440" y="4498848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0" y="534924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2.5%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9610344" y="2683348"/>
            <a:ext cx="1408176" cy="2574452"/>
          </a:xfrm>
          <a:prstGeom prst="roundRect">
            <a:avLst>
              <a:gd name="adj" fmla="val 3247"/>
            </a:avLst>
          </a:prstGeom>
          <a:solidFill>
            <a:srgbClr val="1A7F5C"/>
          </a:solidFill>
          <a:ln/>
        </p:spPr>
      </p:sp>
      <p:sp>
        <p:nvSpPr>
          <p:cNvPr id="24" name="Text 21"/>
          <p:cNvSpPr/>
          <p:nvPr/>
        </p:nvSpPr>
        <p:spPr>
          <a:xfrm>
            <a:off x="9610344" y="2317588"/>
            <a:ext cx="1408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678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64624" y="5349240"/>
            <a:ext cx="1517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contribution margin/user before CAC — software economics with a human premium layer.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18-month allocation (Scenarios A + B = ₹4.55 Cr)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73736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6035040" y="182880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tech ₹1.73 Cr: 3 engineers, design, chart engine licence, AI usage, security, QA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₹1.37 Cr: brand, landing, paid cohorts, influencers, festival campaigns, referral incentives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layer ₹55L: Jyotish lead, corpus curation, astrologer panel contracts, ethics review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₹36L: support, panel ops, QA-of-guidance workflows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₹23L: DPDP/GDPR, T&amp;Cs, ASCI counsel, IP, insurance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₹31L (7%) — unallocated by policy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is mapped to a gate; marketing money unlocks only on validated cohorts.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validation &amp; build — ₹1.25 Cr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5703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1–6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engineers + founder + part-time Jyotish lead + contract designer (~5.2 FTE)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targeted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concierge @ $15/mo → 500 founding members @ $99/yr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~₹32L cash (founding annuals + concierge)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criteria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M2 renewal ≥60% · landing capture &gt;25% · CAC &lt;₹4,000 · activation &gt;60%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acceptable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₹1.25 Cr (hard stop-loss)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Month-6 board review → Gate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₹1.25 Cr buys the three numbers that decide everything: churn, CAC, activation.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Focused market launch — +₹3.3 Cr (months 7–18)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5703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₹3.3 Cr tranche at M7 (cumulative ₹4.55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to ~9 FTE: +1 engineer, growth, content, panel ops,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₹8L/mo (M4–6) → ₹15L/mo (M7–12) → ₹25L/mo (Y2)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3,231 by M12 · ~6,500 by M18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₹1.42 Cr Y1; M18 run-rate ~₹55L/quarter GP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 blended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burn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~₹22L/mo; minimum cash ₹31L (policy floor ₹40L — tranche timing flagged)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Milestones (Gate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≤6% · blended CAC ≤₹3,600 · NPS ≥55 · cohort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capital follows evidence; every milestone is a number, not an adjective.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Accelerated scale — +₹3.3 Cr at PMF (months 19–36)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25703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₹3.3 Cr tranche at M19 (peak staged funding ₹7.85 Cr)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₹35L/mo average through Y3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Pragati scale-up · matchmaking/kundli reports (wedding season) · rituals cross-sell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8,552 by M24 → 14,544 by M36 (base)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/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 revenue ₹12.16 Cr · EBITDA +₹0.20 Cr · exit ARR ≈ ₹14.8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EBITDA-positive month: M30 (base) · M23 (aggressive)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Exit-ARR multiple on ₹7.85 Cr staged capital; Series-A optionality after M18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inflation at scale · incumbent response · aggressive case requires churn ≤4.5%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is a consequence of gates passed — never a substitute for them.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— monthly P&amp;L (₹ lakh)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1828800"/>
                <a:gridCol w="182880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lakh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(M1–3)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(M4–6)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(M7–9)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(M10–12)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+ G&amp;A + conting.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(49.4)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(53.5)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(81.2)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(63.8)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(260.0)*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*Sum differs from quarterly display due to rounding; exact figures in Excel. Founding-member annual cash (₹27L) arrives in Q2 ahead of recognition.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a purchased learning curve: ₹2.60 Cr of EBITDA investment buys 3,231 paying customers and proven cohorts.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2 and 3 — annual P&amp;L (₹ crore)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+ G&amp;A + contingency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72400" y="1828800"/>
            <a:ext cx="384048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7882128" y="193852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M30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7882128" y="2596896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EBITDA-positive month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7772400" y="3291840"/>
            <a:ext cx="384048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882128" y="340156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+₹19L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7882128" y="4059936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in month 36 (run-rate ₹2.3 Cr/yr)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772400" y="4754880"/>
            <a:ext cx="3840480" cy="1371600"/>
          </a:xfrm>
          <a:prstGeom prst="roundRect">
            <a:avLst>
              <a:gd name="adj" fmla="val 4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882128" y="4864608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882128" y="5522976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gross margin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P&amp;L crosses over inside the plan window — on conservative assumptions.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flow &amp; funding plan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912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/ timing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1 — Scenario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₹1.25 Cr at M1 (validation + build)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2 — Scenario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₹3.3 Cr at M7 (post Gate-1)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3 — Scenario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₹3.3 Cr at M19 (post cohort audit)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staged funding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₹7.85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cash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₹31L (M6) — floor policy ₹40L, flagged; mitigated by founding-member cash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Deferred-revenue cushion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plans collect ~5.5 months ahead of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cash M36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₹3.47 Cr (base) — funds Y4 without further capital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funding 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in base case within 36 months; conservative case triggers stop-loss instead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never has more than one gated tranche at risk at any time.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ramp and the EBITDA crossover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11155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compounding, visible crossover — no hockey stick anywhere in this deck.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break-even requires — three cases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60320"/>
                <a:gridCol w="2560320"/>
                <a:gridCol w="2770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/ customer /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cost at crossover (₹/mo)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~₹52L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~₹48L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 to break even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reached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~7,700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to break even (₹/mo)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~₹68L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~₹55L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M36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consumed to BE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stop-loss at gates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~₹6.9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~₹4.6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breaks even at ~7,700 customers — 0.05% of the diaspora-adult addressable base.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 · base · aggressive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9164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78308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50392"/>
                <a:gridCol w="850392"/>
                <a:gridCol w="859536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 payers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ARR (₹Cr)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cash (₹Cr)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777240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*Conservative peak reflects stop-loss at gates; aggressive adds growth capital only after cohort proof.</a:t>
            </a:r>
            <a:endParaRPr lang="en-US" sz="950" dirty="0"/>
          </a:p>
        </p:txBody>
      </p:sp>
      <p:sp>
        <p:nvSpPr>
          <p:cNvPr id="8" name="Shape 3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9" name="Text 4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between cases is exactly why capital is staged and gated.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moves the model most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6.0% → 7.5%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0" y="1819656"/>
            <a:ext cx="4937760" cy="292608"/>
          </a:xfrm>
          <a:prstGeom prst="roundRect">
            <a:avLst>
              <a:gd name="adj" fmla="val 12500"/>
            </a:avLst>
          </a:prstGeom>
          <a:solidFill>
            <a:srgbClr val="B03A48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 customers −24% · BE slips ~7 months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22494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−15%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0" y="2331720"/>
            <a:ext cx="4443984" cy="292608"/>
          </a:xfrm>
          <a:prstGeom prst="roundRect">
            <a:avLst>
              <a:gd name="adj" fmla="val 12500"/>
            </a:avLst>
          </a:prstGeom>
          <a:solidFill>
            <a:srgbClr val="B03A48"/>
          </a:solidFill>
          <a:ln/>
        </p:spPr>
      </p:sp>
      <p:sp>
        <p:nvSpPr>
          <p:cNvPr id="10" name="Text 7"/>
          <p:cNvSpPr/>
          <p:nvPr/>
        </p:nvSpPr>
        <p:spPr>
          <a:xfrm>
            <a:off x="8193024" y="2249424"/>
            <a:ext cx="3419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 EBITDA turns negative (−₹1.6 Cr)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2761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+25%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0" y="2843784"/>
            <a:ext cx="3703320" cy="292608"/>
          </a:xfrm>
          <a:prstGeom prst="roundRect">
            <a:avLst>
              <a:gd name="adj" fmla="val 12500"/>
            </a:avLst>
          </a:prstGeom>
          <a:solidFill>
            <a:srgbClr val="B03A48"/>
          </a:solidFill>
          <a:ln/>
        </p:spPr>
      </p:sp>
      <p:sp>
        <p:nvSpPr>
          <p:cNvPr id="13" name="Text 10"/>
          <p:cNvSpPr/>
          <p:nvPr/>
        </p:nvSpPr>
        <p:spPr>
          <a:xfrm>
            <a:off x="7452360" y="27614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funding +₹85L · payback 6.6 months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3273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−25%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0" y="3355848"/>
            <a:ext cx="3456432" cy="292608"/>
          </a:xfrm>
          <a:prstGeom prst="roundRect">
            <a:avLst>
              <a:gd name="adj" fmla="val 12500"/>
            </a:avLst>
          </a:prstGeom>
          <a:solidFill>
            <a:srgbClr val="8B8FD9"/>
          </a:solidFill>
          <a:ln/>
        </p:spPr>
      </p:sp>
      <p:sp>
        <p:nvSpPr>
          <p:cNvPr id="16" name="Text 13"/>
          <p:cNvSpPr/>
          <p:nvPr/>
        </p:nvSpPr>
        <p:spPr>
          <a:xfrm>
            <a:off x="7205472" y="3273552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 customers −24%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3785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×2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0" y="3867912"/>
            <a:ext cx="2221992" cy="292608"/>
          </a:xfrm>
          <a:prstGeom prst="roundRect">
            <a:avLst>
              <a:gd name="adj" fmla="val 12500"/>
            </a:avLst>
          </a:prstGeom>
          <a:solidFill>
            <a:srgbClr val="8B8FD9"/>
          </a:solidFill>
          <a:ln/>
        </p:spPr>
      </p:sp>
      <p:sp>
        <p:nvSpPr>
          <p:cNvPr id="19" name="Text 16"/>
          <p:cNvSpPr/>
          <p:nvPr/>
        </p:nvSpPr>
        <p:spPr>
          <a:xfrm>
            <a:off x="5971032" y="3785616"/>
            <a:ext cx="5641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79% → 71% — absorbable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delayed 6 months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0" y="4379976"/>
            <a:ext cx="1975104" cy="292608"/>
          </a:xfrm>
          <a:prstGeom prst="roundRect">
            <a:avLst>
              <a:gd name="adj" fmla="val 12500"/>
            </a:avLst>
          </a:prstGeom>
          <a:solidFill>
            <a:srgbClr val="8B8FD9"/>
          </a:solidFill>
          <a:ln/>
        </p:spPr>
      </p:sp>
      <p:sp>
        <p:nvSpPr>
          <p:cNvPr id="22" name="Text 19"/>
          <p:cNvSpPr/>
          <p:nvPr/>
        </p:nvSpPr>
        <p:spPr>
          <a:xfrm>
            <a:off x="5724144" y="4297680"/>
            <a:ext cx="5888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funding +₹1.1 Cr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4809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mix 60% → 40%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0" y="4892040"/>
            <a:ext cx="1481328" cy="292608"/>
          </a:xfrm>
          <a:prstGeom prst="roundRect">
            <a:avLst>
              <a:gd name="adj" fmla="val 12500"/>
            </a:avLst>
          </a:prstGeom>
          <a:solidFill>
            <a:srgbClr val="8B8FD9"/>
          </a:solidFill>
          <a:ln/>
        </p:spPr>
      </p:sp>
      <p:sp>
        <p:nvSpPr>
          <p:cNvPr id="25" name="Text 22"/>
          <p:cNvSpPr/>
          <p:nvPr/>
        </p:nvSpPr>
        <p:spPr>
          <a:xfrm>
            <a:off x="5230368" y="4809744"/>
            <a:ext cx="6382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Working-capital cushion −₹45L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5321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×2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0" y="5404104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8B8FD9"/>
          </a:solidFill>
          <a:ln/>
        </p:spPr>
      </p:sp>
      <p:sp>
        <p:nvSpPr>
          <p:cNvPr id="28" name="Text 25"/>
          <p:cNvSpPr/>
          <p:nvPr/>
        </p:nvSpPr>
        <p:spPr>
          <a:xfrm>
            <a:off x="4736592" y="5321808"/>
            <a:ext cx="6876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−2.5 pts — minor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drivers: churn, ARPU, CAC — all three are measured by the ₹1.25 Cr validation before scale money moves.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investment level buys — and its constraint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1737360"/>
                <a:gridCol w="1371600"/>
                <a:gridCol w="1554480"/>
                <a:gridCol w="2313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buys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Payers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ARR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cum EBITDA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validation only; no 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pilot + 250 founding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−₹0.5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product = no compounding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+ v1 + founding 500 (Scenario 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500–800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₹0.7–0.9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−₹1.1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at Gate 1 by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₹4.55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B: launch to ~6,500 payers (M18)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 (M12)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₹3.4 Cr (M18)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−₹4.4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inflation risk beyond ₹15L/mo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₹7.85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staged plan (base case)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14,544 (M36)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₹14.8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−₹4.6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≤6% required; gates unchanged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₹10+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India mass-tier + rituals module earlier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18–22K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₹18–22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−₹4 to −₹5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Diminishing: retention gates bind, CAC rises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₹7.85 Cr staged is the efficient frontier; more money buys speed, not certainty.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money in the other top ideas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920240"/>
                <a:gridCol w="1783080"/>
                <a:gridCol w="1783080"/>
                <a:gridCol w="176479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Sahay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DharmaSetu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Smriti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investment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₹0.6–1.0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₹0.8–1.3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₹0.6–1.0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₹0.5–0.9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₹0.6–0.9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3-yr cash need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₹6–7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₹9–12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₹5–7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₹5.5–7.5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72–78%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2.5–4%+life events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2.5–3.5% logo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3.5–5%+aging-out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~M30–34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~M22–26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~M28–34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~M30–36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₹11–17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₹16–22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₹9–12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₹7–11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₹6–10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 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₹0.8–1.8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(₹1)–₹1.5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₹1.2–2.2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₹0.3–1.2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(₹0.5)–₹0.8 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Risk-adj.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survives financial scrutiny — not just strategic scoring.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bad case looks like — and why we never fully ride it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walk: churn 7.5%, CAC ₹4,500, ARPU −8% → M36 only 7,538 payers, Y3 EBITDA −₹3.74 Cr, no break-even in window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ladder: Gate-1 failure caps loss at ₹1.25 Cr (≈₹95L net of founding cash); Gate-3 failure caps at ₹4.55 Cr with a ~₹3.4 Cr-ARR business and pivot assets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triggers: concierge M2 &lt;40% · founding &lt;250 by M6 · churn &gt;8% for 2 consecutive quarters · CAC &gt;₹6,000 blended for 2 quarters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assets even in failure: trust brand, astrologer panel, chart engine, cohort data — reusable for hybrid-credits model or KalaOS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92240" y="1783080"/>
            <a:ext cx="5166360" cy="3566160"/>
          </a:xfrm>
          <a:prstGeom prst="roundRect">
            <a:avLst>
              <a:gd name="adj" fmla="val 1795"/>
            </a:avLst>
          </a:prstGeom>
          <a:solidFill>
            <a:srgbClr val="F7F1F1"/>
          </a:solidFill>
          <a:ln w="9525">
            <a:solidFill>
              <a:srgbClr val="E7D5D5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2084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STOP-INVESTMENT CONDITIONS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20840" y="23774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M2 renewal &lt;40%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&lt;250 founding members by month 6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&gt;8%/mo, 2 consecutive quarters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 &gt;₹6,000, 2 quarters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action on category claims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downside is visible, bounded, and pre-agreed — the definition of a governable bet.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register with mitigations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097280"/>
                <a:gridCol w="5696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conversion fails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gate before code; pivot to membership+credits pre-planned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Free-AI erosion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Moat = memory + deterministic engine + humans + ethics brand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Incumbent response (AstroTalk/AstroSage)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NRI niche they cannot serve without cannibalising fear-revenue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/ claims (ASCI, CPA)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outcome guarantees; ethics code; marketing counsel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Key-person Jyotish credibility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Codify methodology into reviewed corpus from day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Emotional-dependency ethics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caps, vulnerable-moment detection, human referral prompts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FX and platform fees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Web-first billing; FX sensitivity 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risks: each one is named, sized, and answered.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cadence and gate calendar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783080"/>
            <a:ext cx="11183112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MIS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474720" y="17830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· cohort retention curves · CAC by channel · NPS · cash runway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624328"/>
            <a:ext cx="11183112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6243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review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474720" y="262432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vs model · sensitivity re-run · risk register refresh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3465576"/>
            <a:ext cx="11183112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34655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1 — Month 6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474720" y="3465576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+ founding results → approve/deny ₹3.3 Cr Tranche B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02920" y="4306824"/>
            <a:ext cx="11183112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430682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2 — Month 12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74720" y="4306824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≤6%, CAC ≤₹3,600, NPS ≥55 checkpoint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5148072"/>
            <a:ext cx="11183112" cy="731520"/>
          </a:xfrm>
          <a:prstGeom prst="roundRect">
            <a:avLst>
              <a:gd name="adj" fmla="val 8750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51480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3 — Month 18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474720" y="514807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cohort audit → approve/deny ₹3.3 Cr Tranche C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curves to the board, every month — the model stays falsifiable.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options before the board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691640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7647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Do nothing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0" y="17647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176479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IPO window passes; the premium NRI niche gets claimed — likely by an incumbent's spin-off. Opportunity cost, not safety.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770632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EEF2E6"/>
          </a:solidFill>
          <a:ln w="9525">
            <a:solidFill>
              <a:srgbClr val="CBE3D6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284378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Validate &amp; build v1  ✓ RECOMMENDED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0" y="2843784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₹1.25 Cr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284378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risk; buys churn/CAC/activation truth in 6 months; every later rupee becomes evidence-based.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849624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392277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Build &amp; launch now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0" y="3922776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₹4.55 Cr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392277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the cheapest learning; commits launch capital on research alone; higher variance for no added upside.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928616"/>
            <a:ext cx="11183112" cy="96012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 w="9525">
            <a:solidFill>
              <a:srgbClr val="E3E6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B8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50017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Partner / acquire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754880" y="50017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35040" y="500176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suitable ethics-compatible target; white-label astrology stacks would inherit the trust problem we exist to solve.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dominates: the same information at a fraction of the capital at risk.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₹1.25 crore — Scenario A</a:t>
            </a:r>
            <a:endParaRPr lang="en-US" sz="3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863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funds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₹52L · expert layer ₹18L · marketing ₹22L · ops+legal ₹17L · contingency ₹16L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90-day deliverables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cohort live · landing &gt;25% capture · 20 interviews · chart-engine alpha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founding members · concierge M2 renewal ≥60% · CAC &lt;₹4,000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target (post Gate-2)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3,231 payers · ₹1.42 Cr revenue · churn ≤6%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Stop-loss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M2 &lt;40% or founding &lt;250 by M6 → stop/pivot; exposure capped ₹1.25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funding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Month-6 board: Gate 2 (₹3.3 Cr) on cohort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support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today · monthly MIS review · Gate-2 calendar commitment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F6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 number lives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165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model (17 sheets)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Assumptions · Pricing · Customer Growth · Funnel · Revenue · COGS · Headcount · Marketing · OpEx · P&amp;L · Cash Flow · Unit Economics · Scenarios · Sensitivity · Idea Comparison · Investment Returns ·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report (Edition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categories · 20 scorecards · sources with URLs · rejected-idea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outlines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Slide-by-slide spec incl. presenter notes for both decks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memo (1 page)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ask, gates, stop-loss, 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 comparison (1 page)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side-by-side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6199632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6199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traceable: deck → Excel cell → research citation.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₹1.25 crore buys the answer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₹1,182-crore question.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Discussion.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SITARA · CONFIDENTIAL · 28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2026-07-28T11:21:30Z</dcterms:created>
  <dcterms:modified xsi:type="dcterms:W3CDTF">2026-07-28T11:21:30Z</dcterms:modified>
</cp:coreProperties>
</file>